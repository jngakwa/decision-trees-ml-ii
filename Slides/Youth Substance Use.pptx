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6"/>
  </p:notesMasterIdLst>
  <p:sldIdLst>
    <p:sldId id="256" r:id="rId2"/>
    <p:sldId id="258" r:id="rId3"/>
    <p:sldId id="259" r:id="rId4"/>
    <p:sldId id="260" r:id="rId5"/>
    <p:sldId id="289" r:id="rId6"/>
    <p:sldId id="261" r:id="rId7"/>
    <p:sldId id="262" r:id="rId8"/>
    <p:sldId id="290" r:id="rId9"/>
    <p:sldId id="263" r:id="rId10"/>
    <p:sldId id="291" r:id="rId11"/>
    <p:sldId id="264" r:id="rId12"/>
    <p:sldId id="292" r:id="rId13"/>
    <p:sldId id="293" r:id="rId14"/>
    <p:sldId id="288" r:id="rId15"/>
  </p:sldIdLst>
  <p:sldSz cx="9144000" cy="5143500" type="screen16x9"/>
  <p:notesSz cx="6858000" cy="9144000"/>
  <p:embeddedFontLst>
    <p:embeddedFont>
      <p:font typeface="Roboto" panose="02000000000000000000" pitchFamily="2" charset="0"/>
      <p:regular r:id="rId17"/>
      <p:bold r:id="rId18"/>
      <p:italic r:id="rId19"/>
      <p:boldItalic r:id="rId2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E8EF795-61F7-467A-95B5-79E99003107C}">
  <a:tblStyle styleId="{3E8EF795-61F7-467A-95B5-79E99003107C}"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3674" autoAdjust="0"/>
  </p:normalViewPr>
  <p:slideViewPr>
    <p:cSldViewPr snapToGrid="0">
      <p:cViewPr>
        <p:scale>
          <a:sx n="92" d="100"/>
          <a:sy n="92" d="100"/>
        </p:scale>
        <p:origin x="540" y="5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 Gakwa" userId="a4f1aca622b7df0e" providerId="LiveId" clId="{9E5129BE-3D0A-40E2-A03E-40751DB1CB99}"/>
    <pc:docChg chg="custSel delSld modSld">
      <pc:chgData name="John Gakwa" userId="a4f1aca622b7df0e" providerId="LiveId" clId="{9E5129BE-3D0A-40E2-A03E-40751DB1CB99}" dt="2026-04-11T11:40:38.600" v="99" actId="47"/>
      <pc:docMkLst>
        <pc:docMk/>
      </pc:docMkLst>
      <pc:sldChg chg="modNotesTx">
        <pc:chgData name="John Gakwa" userId="a4f1aca622b7df0e" providerId="LiveId" clId="{9E5129BE-3D0A-40E2-A03E-40751DB1CB99}" dt="2026-04-11T11:24:37.094" v="97" actId="20577"/>
        <pc:sldMkLst>
          <pc:docMk/>
          <pc:sldMk cId="0" sldId="256"/>
        </pc:sldMkLst>
      </pc:sldChg>
      <pc:sldChg chg="del">
        <pc:chgData name="John Gakwa" userId="a4f1aca622b7df0e" providerId="LiveId" clId="{9E5129BE-3D0A-40E2-A03E-40751DB1CB99}" dt="2026-04-11T11:26:55.098" v="98" actId="47"/>
        <pc:sldMkLst>
          <pc:docMk/>
          <pc:sldMk cId="0" sldId="257"/>
        </pc:sldMkLst>
      </pc:sldChg>
      <pc:sldChg chg="del">
        <pc:chgData name="John Gakwa" userId="a4f1aca622b7df0e" providerId="LiveId" clId="{9E5129BE-3D0A-40E2-A03E-40751DB1CB99}" dt="2026-04-11T11:40:38.600" v="99" actId="47"/>
        <pc:sldMkLst>
          <pc:docMk/>
          <pc:sldMk cId="0" sldId="287"/>
        </pc:sldMkLst>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1T10:27:11.704"/>
    </inkml:context>
    <inkml:brush xml:id="br0">
      <inkml:brushProperty name="width" value="0.035" units="cm"/>
      <inkml:brushProperty name="height" value="0.035" units="cm"/>
    </inkml:brush>
  </inkml:definitions>
  <inkml:trace contextRef="#ctx0" brushRef="#br0">0 0 20237,'0'3736'0</inkml:trace>
  <inkml:trace contextRef="#ctx0" brushRef="#br0" timeOffset="-33606.29">8286 4157 20237,'0'-4157'0,"-8286"4157"0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1T10:30:45.203"/>
    </inkml:context>
    <inkml:brush xml:id="br0">
      <inkml:brushProperty name="width" value="0.035" units="cm"/>
      <inkml:brushProperty name="height" value="0.035" units="cm"/>
    </inkml:brush>
  </inkml:definitions>
  <inkml:trace contextRef="#ctx0" brushRef="#br0">1 0 18445,'0'2653'0</inkml:trace>
  <inkml:trace contextRef="#ctx0" brushRef="#br0" timeOffset="-1">7496 2526 18445,'0'-2526'0,"-7495"2526"0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1T10:31:12.591"/>
    </inkml:context>
    <inkml:brush xml:id="br0">
      <inkml:brushProperty name="width" value="0.1" units="cm"/>
      <inkml:brushProperty name="height" value="0.1" units="cm"/>
    </inkml:brush>
  </inkml:definitions>
  <inkml:trace contextRef="#ctx0" brushRef="#br0">350 89 7554,'-3'-27'4636,"3"24"-4393,0 1 0,0 0 0,0 0 0,-1-1-1,1 1 1,0 0 0,-1-1 0,0 1 0,-2-4-1,2 5-152,0 0-1,0 0 0,0-1 1,-1 2-1,1-1 0,-1 0 1,1 0-1,-1 0 0,1 1 1,-1-1-1,1 0 0,-1 1 1,0-1-1,1 1 0,-1 0 1,0-1-1,0 1 0,1 0 1,-1 0-1,-3 0 0,-8 0 60,0 1-1,0-1 1,-1 2-1,1 0 1,0 0-1,1 1 1,-1 0-1,1 1 1,-1 0-1,1 1 1,0 0-1,1 0 1,0 1-1,0 1 1,-11 7-1,14-8-154,-1 1 0,1 0-1,1 0 1,-1 0 0,1 1 0,1 0-1,0 0 1,0 1 0,1-1-1,0 1 1,1 0 0,0 0 0,0 0-1,1 1 1,1-1 0,0 1 0,-1 18-1,3-18 6,1 1-1,0-1 0,1 0 1,0 0-1,1 1 0,1-1 1,-1 0-1,2-1 0,0 1 1,0-1-1,9 12 0,-9-15-1,-1-1 0,1 0-1,0 0 1,0 0 0,1-1-1,0 0 1,-1 0 0,2 0-1,-1 0 1,1-1 0,-1 1-1,1-2 1,0 1 0,0-1-1,0 1 1,1-2 0,-1 1-1,1-1 1,9 1 0,-5-2 5,-1 0 0,0-1 0,1-1 0,-1 1 1,0-1-1,0-1 0,0 0 0,0 0 1,11-6-1,-4 2 15,-1-1 1,0-1 0,0 0 0,21-17-1,-33 22-7,0 0 0,0-1-1,0 0 1,0 0 0,-1 0 0,0 0-1,0-1 1,-1 1 0,1-1-1,-2 0 1,1 0 0,-1 0 0,0 0-1,0 0 1,-1 0 0,0 0-1,0 0 1,-1-1 0,1 1 0,-2 0-1,1-1 1,-1 1 0,0 0-1,-3-8 1,-2-1 48,0 0 0,-1 1-1,0-1 1,-1 1 0,-1 1 0,-1-1 0,0 1-1,-20-18 1,17 18-35,-27-26 10,37 37-33,0-1-1,0 1 1,0 0 0,0 0 0,-1 0 0,1 0-1,-1 0 1,0 1 0,1 0 0,-1-1 0,-5 0 0,7 2-35,-1 0 0,1 0 0,0 0 1,0 1-1,0-1 0,0 0 1,0 1-1,-1-1 0,1 1 1,0 0-1,0 0 0,0 0 0,1-1 1,-1 2-1,0-1 0,0 0 1,-2 2-1,-29 28-3011,20-18-322,-9 6 683</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1T10:31:14.111"/>
    </inkml:context>
    <inkml:brush xml:id="br0">
      <inkml:brushProperty name="width" value="0.1" units="cm"/>
      <inkml:brushProperty name="height" value="0.1" units="cm"/>
    </inkml:brush>
  </inkml:definitions>
  <inkml:trace contextRef="#ctx0" brushRef="#br0">343 46 7338,'0'-1'184,"1"0"1,-1 1 0,0-1 0,0 0 0,0 0 0,0 0-1,0 1 1,0-1 0,-1 0 0,1 0 0,0 1 0,0-1-1,-1 0 1,1 0 0,0 1 0,-1-1 0,1 0 0,-1 1-1,1-1 1,-1 0 0,1 1 0,-1-1 0,0 1 0,1-1-1,-1 1 1,0-1 0,1 1 0,-1-1 0,0 1 0,0 0-1,0-1 1,1 1 0,-1 0 0,0-1 0,0 1 0,0 0-1,0 0 1,-1 0 0,-42-7 1324,35 7-991,-1-1-467,-1 0 0,1 1 0,0 0 1,0 1-1,0 0 0,0 0 0,-1 1 0,2 0 1,-1 0-1,0 1 0,1 0 0,-1 1 0,1-1 1,0 2-1,0-1 0,1 1 0,0 0 1,0 1-1,0-1 0,1 1 0,0 1 0,0-1 1,0 1-1,1 0 0,1 0 0,-1 1 0,-6 13 1,7-12-53,1 0 0,1 0 0,0 1 0,0-1 1,1 1-1,0-1 0,1 1 0,0 0 1,1-1-1,0 1 0,1 0 0,0 0 1,1-1-1,4 11 0,-3-12 0,0 0 0,1-1 0,0 1 1,1-1-1,0 0 0,1 0 0,-1 0 0,1-1 0,1 0 0,0 0 0,0 0 0,0 0 0,0-1 1,1 0-1,0-1 0,16 8 0,-12-7-42,0 0 1,0-1-1,1 0 0,0-1 1,0 0-1,0 0 1,1-1-1,-1-1 0,0 0 1,17 0-1,-23-2 21,0 1 0,0-1 0,0 0 0,0-1-1,0 0 1,-1 0 0,1 0 0,0 0 0,-1-1 0,0 0 0,0 0-1,0 0 1,0-1 0,-1 0 0,1 0 0,-1 0 0,0-1 0,-1 1 0,1-1-1,6-9 1,-2 1 64,-1 0-1,-1 0 1,0 0-1,-1-1 1,0 0-1,-2-1 1,0 1-1,-1 0 1,2-22-1,-4 28 2,-1 0 0,0 0-1,-1 1 1,0-1 0,0 0 0,-1 1-1,0-1 1,-1 1 0,0-1 0,0 1-1,-1 0 1,0 0 0,0 0 0,-1 0-1,0 1 1,-1 0 0,1 0-1,-1 0 1,-9-7 0,5 6 53,-1 0 0,0 0-1,0 0 1,0 1 0,-1 1 0,-18-7 0,23 11-103,1-1 1,-1 1 0,0 0-1,0 0 1,0 0-1,0 1 1,0 0 0,0 0-1,0 1 1,0-1-1,0 1 1,0 1 0,1-1-1,-9 3 1,-10 4-845,-1 1 0,2 0 0,-1 2 0,2 0 0,-25 16 1,22-9-421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1T10:31:15.347"/>
    </inkml:context>
    <inkml:brush xml:id="br0">
      <inkml:brushProperty name="width" value="0.1" units="cm"/>
      <inkml:brushProperty name="height" value="0.1" units="cm"/>
    </inkml:brush>
  </inkml:definitions>
  <inkml:trace contextRef="#ctx0" brushRef="#br0">379 110 8434,'-3'-7'878,"-1"0"1,0 0 0,-1 0-1,0 0 1,0 0 0,-7-6-1,7 8-521,-1-1-1,0 1 1,-1 1 0,1-1-1,-1 1 1,-13-7-1,15 9-308,-1 0-1,1 0 1,-1 0-1,1 0 1,-1 1-1,0 0 1,0 0-1,0 0 1,0 1-1,0-1 1,0 1-1,0 1 1,0-1 0,0 1-1,0-1 1,0 1-1,0 1 1,0-1-1,1 1 1,-1 0-1,0 0 1,-8 5-1,2-1-44,1 1-1,1 0 1,0 1 0,0 0-1,0 0 1,1 0-1,1 1 1,0 0-1,0 1 1,1 0 0,1 0-1,0 0 1,0 0-1,-7 23 1,11-27-9,0 1 1,0 0-1,1 0 1,0 0-1,1 0 0,0 0 1,0 0-1,1 0 1,0 0-1,1 0 0,-1 0 1,1 0-1,1-1 1,0 1-1,0 0 0,0-1 1,1 0-1,0 0 1,1 0-1,-1 0 0,1 0 1,1-1-1,-1 0 1,1 0-1,11 7 1,-10-7-11,0-1 1,0 1 0,1-2-1,0 1 1,0-1 0,0 0-1,0 0 1,1-1 0,-1 0-1,1 0 1,0-1 0,0 0-1,0 0 1,-1-1 0,1 0-1,0 0 1,0-1 0,0 0-1,0 0 1,-1-1 0,1 0-1,-1 0 1,1-1 0,-1 1-1,0-2 1,0 1 0,-1-1-1,9-5 1,-7 4 53,1-1 1,-2 0-1,1-1 1,-1 0-1,0 0 0,-1 0 1,0-1-1,0 1 1,-1-2-1,0 1 0,-1-1 1,0 1-1,0-1 0,-1 0 1,-1-1-1,0 1 1,0 0-1,-1-1 0,0 0 1,-1 1-1,-1-17 1,0 21-26,-1 0 0,0 0 1,0 0-1,0 0 0,-1 0 1,0 1-1,0-1 1,0 0-1,-1 1 0,0-1 1,0 1-1,0 0 0,0 0 1,-1 0-1,0 0 1,0 1-1,0-1 0,0 1 1,-1 0-1,0 0 0,-9-5 1,7 6-46,0-1 1,-1 1-1,1 0 1,0 0-1,-1 0 1,0 1-1,1 0 1,-1 1 0,0-1-1,1 1 1,-1 0-1,0 1 1,0 0-1,1 0 1,-15 3-1,0 3-1082,1 0-1,0 1 1,-21 11-1,6-1-465</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1T10:32:00.390"/>
    </inkml:context>
    <inkml:brush xml:id="br0">
      <inkml:brushProperty name="width" value="0.035" units="cm"/>
      <inkml:brushProperty name="height" value="0.035" units="cm"/>
      <inkml:brushProperty name="color" value="#E71224"/>
    </inkml:brush>
  </inkml:definitions>
  <inkml:trace contextRef="#ctx0" brushRef="#br0">3 161 7514,'-2'-2'8203,"2"2"-8147,0-1 0,0 1 0,0 0 0,0-1 0,0 1 0,0 0 0,0-1 0,0 1 0,0 0 0,0-1 0,0 1 1,0 0-1,0-1 0,0 1 0,1 0 0,-1-1 0,0 1 0,0 0 0,0 0 0,1-1 0,-1 1 0,0 0 0,1 0 0,-1-1 0,0 1 0,0 0 0,1 0 0,-1 0 0,0-1 0,1 1 0,0 0 0,20-14 515,-1-1-1,33-32 0,7-5-556,-47 41-63,3 1 293,-23 32 132,2-8-275,0 1 1,1 0-1,1 0 1,1 0-1,0 16 1,5 77 350,-1-95-604,2 6 581,-4-19-515,0 1-1,0-1 0,0 1 1,0-1-1,0 0 1,0 1-1,0-1 1,0 0-1,0 1 1,-1-1-1,1 0 1,0 1-1,0-1 1,0 0-1,0 1 0,-1-1 1,1 0-1,0 0 1,-1 1-1,1-1 1,0 0-1,0 0 1,-1 1-1,1-1 1,0 0-1,-1 0 1,1 0-1,0 1 0,-1-1 1,1 0-1,-1 0 1,1 0-1,0 0 1,-1 0-1,1 0 1,-1 0-1,1 0 1,-1 0-1,-7 0-510,-1 0 125</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1T10:32:00.659"/>
    </inkml:context>
    <inkml:brush xml:id="br0">
      <inkml:brushProperty name="width" value="0.035" units="cm"/>
      <inkml:brushProperty name="height" value="0.035" units="cm"/>
      <inkml:brushProperty name="color" value="#E71224"/>
    </inkml:brush>
  </inkml:definitions>
  <inkml:trace contextRef="#ctx0" brushRef="#br0">8 47 11690,'-6'0'1593,"5"-4"1023,1 0-1247,9 0-337,5-1-376,13 0-328,7-2-120,7 2-160,5-2-24,4 3-8,-1 3 8,-2 1-88,-5 1-112,-5 3-264,-3 1-344,-4 1-600,-2-5 703</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1T10:32:02.403"/>
    </inkml:context>
    <inkml:brush xml:id="br0">
      <inkml:brushProperty name="width" value="0.035" units="cm"/>
      <inkml:brushProperty name="height" value="0.035" units="cm"/>
      <inkml:brushProperty name="color" value="#E71224"/>
    </inkml:brush>
  </inkml:definitions>
  <inkml:trace contextRef="#ctx0" brushRef="#br0">19 97 10850,'-1'-1'225,"-1"1"-1,1-1 0,0 0 0,0 0 0,0 1 0,0-1 1,0 0-1,0 0 0,0 0 0,0 0 0,0 0 1,0 0-1,1-1 0,-1 1 0,0 0 0,1 0 1,-1 0-1,1-1 0,0 1 0,-1 0 0,1 0 1,0-1-1,0 1 0,0 0 0,0-2 0,1 1-52,0 0-1,0 0 0,0 0 1,0 0-1,0 0 0,1 1 1,-1-1-1,1 0 0,-1 1 1,1-1-1,0 0 0,0 1 1,3-2-1,5-3 123,0 0 0,1 1 1,0 0-1,0 1 0,14-4 0,-19 6-268,-1 1-1,0-1 0,1 1 1,-1 0-1,1 1 1,-1-1-1,1 1 0,0 0 1,-1 0-1,1 1 1,10 1-1,-13-1-53,0 0 1,0 0-1,-1 1 0,1-1 0,0 1 1,-1-1-1,1 1 0,-1 0 0,1 0 1,-1 0-1,0 0 0,0 0 0,0 0 0,-1 1 1,1-1-1,0 0 0,-1 1 0,0-1 1,0 1-1,0 0 0,0-1 0,1 4 1,-1 0-101,0 1 0,0-1 0,0 1 0,-1-1 1,0 1-1,-1 0 0,0-1 0,0 0 0,0 1 1,-1-1-1,0 1 0,-5 7 0,2-3 17,-1 0 0,-1-1-1,0 1 1,-1-2 0,0 1-1,-10 10 1,16-19 112,1 0 0,0 1-1,0-1 1,-1 0 0,1 0 0,-1 1-1,0-1 1,1 0 0,-1 0 0,0-1-1,1 1 1,-1 0 0,0 0 0,0-1-1,0 1 1,0-1 0,0 1 0,0-1-1,0 0 1,0 0 0,0 1 0,0-1-1,0-1 1,0 1 0,0 0 0,0 0-1,0 0 1,0-1 0,0 1 0,0-1-1,0 0 1,-3-1 0,2 0 43,0 0-1,0 0 1,1 0 0,-1-1-1,1 1 1,-1-1-1,1 1 1,0-1 0,0 0-1,0 0 1,1 0 0,-1 0-1,1 0 1,0 0 0,0 0-1,-1-5 1,2 7-31,-1 1 0,1-1-1,-1 0 1,1 0 0,0 1 0,0-1 0,0 0 0,-1 0-1,1 1 1,0-1 0,0 0 0,0 0 0,0 0 0,0 0-1,0 1 1,1-1 0,-1 0 0,0 0 0,0 1-1,1-1 1,-1 0 0,1 0 0,-1 1 0,1-1 0,-1 0-1,1 1 1,-1-1 0,2 0 0,0 1 4,0 0 0,-1 0 0,1 1 0,0-1-1,0 1 1,0 0 0,0-1 0,0 1 0,-1 0 0,1 0 0,1 1 0,9 3-45,7 3 166,1-2 1,0 1-1,42 6 1,7 3-34,-65-15-120,0 0 0,0 1 0,0 0 0,0 0 1,0 0-1,-1 0 0,7 5 0,-9-6 12,0-1 0,-1 1 0,1-1 0,0 1 0,-1-1 0,1 1 0,-1-1 0,1 1 0,0 0 0,-1-1 0,0 1 0,1 0 0,-1-1 0,0 1 0,1 0 0,-1-1 0,0 1 0,0 0 0,1 0 0,-1-1 0,0 1 0,0 0 0,0 0 0,0-1 0,0 1 0,-1 0-1,1 0 1,0-1 0,0 1 0,-1 0 0,1 0 0,0-1 0,-1 1 0,1 0 0,0-1 0,-1 1 0,1-1 0,-1 1 0,0 0 0,1-1 0,-1 1 0,0-1 0,1 1 0,-2 0 0,-3 2 572</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1T10:32:03.907"/>
    </inkml:context>
    <inkml:brush xml:id="br0">
      <inkml:brushProperty name="width" value="0.035" units="cm"/>
      <inkml:brushProperty name="height" value="0.035" units="cm"/>
      <inkml:brushProperty name="color" value="#E71224"/>
    </inkml:brush>
  </inkml:definitions>
  <inkml:trace contextRef="#ctx0" brushRef="#br0">227 20 8858,'-15'0'2882,"-6"1"-8,16-4 975,12 0-3808,0 1 0,1-1 0,-1 1 0,1 0 0,0 1 0,0-1 0,-1 1 0,14 0 0,64 2-5,-83-1-36,1 0-1,-1 0 1,1 0-1,-1 0 1,0 0-1,1 1 1,-1-1-1,0 1 1,1 0-1,-1-1 1,0 1 0,0 0-1,0 0 1,0 0-1,0 0 1,0 1-1,0-1 1,0 0-1,-1 1 1,1-1-1,0 1 1,-1-1 0,1 1-1,-1 0 1,0-1-1,0 1 1,0 0-1,0 0 1,0 0-1,0 0 1,-1 0-1,1 0 1,-1 0-1,1 0 1,-1 0 0,0 0-1,0 0 1,0 0-1,-1 4 1,1-2-22,-1 0 0,-1 0 0,1 0 0,0 0 0,-1 0 0,0 0 0,0-1 0,-1 1 0,1 0 0,-1-1 0,0 1 0,0-1 0,0 0 0,-1 0 0,1 0 0,-1 0 0,0-1 0,-7 5 0,2-3 22,1 0-1,-2-1 1,1 0 0,0 0-1,-1-1 1,0 0 0,1 0-1,-1-1 1,0 0 0,0 0 0,0-1-1,-17-1 1,26-1-25,11 0 1,12-1 1,-10 3 25,0 1 0,0 0 0,-1 1 1,1 0-1,-1 0 0,1 1 0,-1 1 0,18 7 1,-23-9-1,0 1 0,0 0 0,-1 0 1,1 1-1,-1-1 0,1 1 1,-1 0-1,-1 1 0,1-1 1,-1 0-1,0 1 0,0 0 0,0 0 1,-1 0-1,0 0 0,3 7 1,-6-10 17,1-1 0,-1 0 1,0 0-1,0 0 0,0 0 1,0 0-1,0 0 1,0 1-1,0-1 0,0 0 1,0 0-1,-1 0 1,1 0-1,-1 0 0,1 0 1,-1 0-1,1 0 0,-1 0 1,0 0-1,1 0 1,-1 0-1,0 0 0,0 0 1,0 0-1,0-1 0,0 1 1,0 0-1,0-1 1,0 1-1,0 0 0,0-1 1,-1 1-1,1-1 1,0 0-1,0 1 0,0-1 1,-3 1-1,-6 1 143,0 0-1,-1-1 0,-18 2 1,20-3-100,-67 2 117,-139-12-1,185 8-318,26 1 35,2 2-77,0-1-1,0-1 1,0 1 0,0 0 0,0 0 0,0-1 0,0 1-1,0-1 1,1 1 0,-1-1 0,0 0 0,-3-1-1,3-2-620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c6f9e470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83" name="Google Shape;83;gc6f9e470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r>
              <a:rPr lang="en" sz="1300" dirty="0"/>
              <a:t>Hello everyone, In this presentation </a:t>
            </a:r>
            <a:r>
              <a:rPr lang="en-US" sz="1300" dirty="0"/>
              <a:t>we will be exploring youth substance use. From the DATA 5322. My name is Njenga Gakwa</a:t>
            </a:r>
            <a:endParaRPr sz="1300" dirty="0"/>
          </a:p>
          <a:p>
            <a:pPr marL="0" lvl="0" indent="0" algn="l" rtl="0">
              <a:lnSpc>
                <a:spcPct val="115000"/>
              </a:lnSpc>
              <a:spcBef>
                <a:spcPts val="600"/>
              </a:spcBef>
              <a:spcAft>
                <a:spcPts val="0"/>
              </a:spcAft>
              <a:buNone/>
            </a:pPr>
            <a:endParaRPr dirty="0"/>
          </a:p>
          <a:p>
            <a:pPr marL="0" lvl="0" indent="0" algn="l" rtl="0">
              <a:spcBef>
                <a:spcPts val="600"/>
              </a:spcBef>
              <a:spcAft>
                <a:spcPts val="0"/>
              </a:spcAft>
              <a:buNone/>
            </a:pPr>
            <a:endParaRPr sz="1000" dirty="0">
              <a:solidFill>
                <a:schemeClr val="dk1"/>
              </a:solidFill>
              <a:highlight>
                <a:srgbClr val="FFFFFF"/>
              </a:highlight>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39e0bf243ad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09" name="Google Shape;109;g39e0bf243ad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13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39871134c8f_3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6" name="Google Shape;116;g39871134c8f_3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1300">
                <a:solidFill>
                  <a:schemeClr val="dk1"/>
                </a:solidFill>
              </a:rPr>
              <a:t>The Professional Women’s Hockey League generates a large amount of detailed game-event data including shots, goals, penalties, assists, and player information.</a:t>
            </a:r>
            <a:endParaRPr sz="1300">
              <a:solidFill>
                <a:schemeClr val="dk1"/>
              </a:solidFill>
            </a:endParaRPr>
          </a:p>
          <a:p>
            <a:pPr marL="0" lvl="0" indent="0" algn="l" rtl="0">
              <a:lnSpc>
                <a:spcPct val="115000"/>
              </a:lnSpc>
              <a:spcBef>
                <a:spcPts val="1200"/>
              </a:spcBef>
              <a:spcAft>
                <a:spcPts val="0"/>
              </a:spcAft>
              <a:buNone/>
            </a:pPr>
            <a:r>
              <a:rPr lang="en" sz="1300">
                <a:solidFill>
                  <a:schemeClr val="dk1"/>
                </a:solidFill>
              </a:rPr>
              <a:t>However, analyzing this type of data requires a structured relational database that organizes events, players, teams, and games into connected tables.</a:t>
            </a:r>
            <a:endParaRPr sz="1300">
              <a:solidFill>
                <a:schemeClr val="dk1"/>
              </a:solidFill>
            </a:endParaRPr>
          </a:p>
          <a:p>
            <a:pPr marL="0" lvl="0" indent="0" algn="l" rtl="0">
              <a:lnSpc>
                <a:spcPct val="115000"/>
              </a:lnSpc>
              <a:spcBef>
                <a:spcPts val="1200"/>
              </a:spcBef>
              <a:spcAft>
                <a:spcPts val="0"/>
              </a:spcAft>
              <a:buNone/>
            </a:pPr>
            <a:r>
              <a:rPr lang="en" sz="1300" b="1">
                <a:solidFill>
                  <a:schemeClr val="dk1"/>
                </a:solidFill>
              </a:rPr>
              <a:t>Our project addresses this challenge by designing a database that models PWHL hockey data in a way that supports structured analytics.</a:t>
            </a:r>
            <a:endParaRPr sz="1300" b="1">
              <a:solidFill>
                <a:schemeClr val="dk1"/>
              </a:solidFill>
            </a:endParaRPr>
          </a:p>
          <a:p>
            <a:pPr marL="0" lvl="0" indent="0" algn="l" rtl="0">
              <a:lnSpc>
                <a:spcPct val="115000"/>
              </a:lnSpc>
              <a:spcBef>
                <a:spcPts val="1200"/>
              </a:spcBef>
              <a:spcAft>
                <a:spcPts val="0"/>
              </a:spcAft>
              <a:buNone/>
            </a:pPr>
            <a:endParaRPr>
              <a:solidFill>
                <a:schemeClr val="dk1"/>
              </a:solidFill>
            </a:endParaRPr>
          </a:p>
          <a:p>
            <a:pPr marL="0" lvl="0" indent="0" algn="l" rtl="0">
              <a:lnSpc>
                <a:spcPct val="115000"/>
              </a:lnSpc>
              <a:spcBef>
                <a:spcPts val="1200"/>
              </a:spcBef>
              <a:spcAft>
                <a:spcPts val="0"/>
              </a:spcAft>
              <a:buNone/>
            </a:pP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spcBef>
                <a:spcPts val="600"/>
              </a:spcBef>
              <a:spcAft>
                <a:spcPts val="0"/>
              </a:spcAft>
              <a:buNone/>
            </a:pPr>
            <a:endParaRPr sz="1050">
              <a:solidFill>
                <a:schemeClr val="dk1"/>
              </a:solidFill>
              <a:highlight>
                <a:srgbClr val="FFFFFF"/>
              </a:highlight>
            </a:endParaRPr>
          </a:p>
          <a:p>
            <a:pPr marL="0" lvl="0" indent="0" algn="l" rtl="0">
              <a:spcBef>
                <a:spcPts val="0"/>
              </a:spcBef>
              <a:spcAft>
                <a:spcPts val="0"/>
              </a:spcAft>
              <a:buNone/>
            </a:pPr>
            <a:endParaRPr sz="1050">
              <a:solidFill>
                <a:schemeClr val="dk1"/>
              </a:solidFill>
              <a:highlight>
                <a:srgbClr val="FFFFFF"/>
              </a:highlight>
            </a:endParaRPr>
          </a:p>
          <a:p>
            <a:pPr marL="0" lvl="0" indent="0" algn="l" rtl="0">
              <a:spcBef>
                <a:spcPts val="0"/>
              </a:spcBef>
              <a:spcAft>
                <a:spcPts val="0"/>
              </a:spcAft>
              <a:buNone/>
            </a:pPr>
            <a:endParaRPr sz="1050">
              <a:solidFill>
                <a:schemeClr val="dk1"/>
              </a:solidFill>
              <a:highlight>
                <a:srgbClr val="FFFFFF"/>
              </a:highlight>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3af1fe50029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23" name="Google Shape;123;g3af1fe50029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sz="1200" dirty="0">
                <a:solidFill>
                  <a:schemeClr val="dk1"/>
                </a:solidFill>
              </a:rPr>
              <a:t>The project sits at the intersection of sports analytics, data management, and relational database systems.</a:t>
            </a:r>
            <a:endParaRPr sz="1200" dirty="0">
              <a:solidFill>
                <a:schemeClr val="dk1"/>
              </a:solidFill>
            </a:endParaRPr>
          </a:p>
          <a:p>
            <a:pPr marL="0" lvl="0" indent="0" algn="l" rtl="0">
              <a:lnSpc>
                <a:spcPct val="115000"/>
              </a:lnSpc>
              <a:spcBef>
                <a:spcPts val="1200"/>
              </a:spcBef>
              <a:spcAft>
                <a:spcPts val="0"/>
              </a:spcAft>
              <a:buNone/>
            </a:pPr>
            <a:r>
              <a:rPr lang="en" sz="1200" dirty="0">
                <a:solidFill>
                  <a:schemeClr val="dk1"/>
                </a:solidFill>
              </a:rPr>
              <a:t>The database was designed to capture the relationships between players, teams, games, and in-game events such as shots, goals, assists, and penalties. The key entities are listed on the screen.</a:t>
            </a:r>
            <a:endParaRPr sz="1200" dirty="0">
              <a:solidFill>
                <a:schemeClr val="dk1"/>
              </a:solidFill>
            </a:endParaRPr>
          </a:p>
          <a:p>
            <a:pPr marL="0" lvl="0" indent="0" algn="l" rtl="0">
              <a:lnSpc>
                <a:spcPct val="115000"/>
              </a:lnSpc>
              <a:spcBef>
                <a:spcPts val="1200"/>
              </a:spcBef>
              <a:spcAft>
                <a:spcPts val="0"/>
              </a:spcAft>
              <a:buNone/>
            </a:pPr>
            <a:r>
              <a:rPr lang="en" sz="1200" dirty="0">
                <a:solidFill>
                  <a:schemeClr val="dk1"/>
                </a:solidFill>
              </a:rPr>
              <a:t>…. By structuring the data in this way, we can meet our main objective of being able to use SQL to explore hockey analytics through queries related to player performance, team composition, and game outcomes.</a:t>
            </a:r>
            <a:endParaRPr sz="1200" dirty="0">
              <a:solidFill>
                <a:schemeClr val="dk1"/>
              </a:solidFill>
            </a:endParaRPr>
          </a:p>
          <a:p>
            <a:pPr marL="0" lvl="0" indent="0" algn="l" rtl="0">
              <a:lnSpc>
                <a:spcPct val="115000"/>
              </a:lnSpc>
              <a:spcBef>
                <a:spcPts val="1200"/>
              </a:spcBef>
              <a:spcAft>
                <a:spcPts val="0"/>
              </a:spcAft>
              <a:buNone/>
            </a:pPr>
            <a:endParaRPr sz="1200" dirty="0">
              <a:solidFill>
                <a:schemeClr val="dk1"/>
              </a:solidFill>
            </a:endParaRPr>
          </a:p>
          <a:p>
            <a:pPr marL="0" marR="457200" lvl="0" indent="0" algn="l" rtl="0">
              <a:lnSpc>
                <a:spcPct val="115000"/>
              </a:lnSpc>
              <a:spcBef>
                <a:spcPts val="1200"/>
              </a:spcBef>
              <a:spcAft>
                <a:spcPts val="0"/>
              </a:spcAft>
              <a:buClr>
                <a:schemeClr val="dk1"/>
              </a:buClr>
              <a:buSzPts val="1100"/>
              <a:buFont typeface="Arial"/>
              <a:buNone/>
            </a:pPr>
            <a:endParaRPr sz="1000" dirty="0">
              <a:solidFill>
                <a:srgbClr val="1F1F1F"/>
              </a:solidFill>
              <a:highlight>
                <a:srgbClr val="FFFFFF"/>
              </a:highlight>
            </a:endParaRPr>
          </a:p>
          <a:p>
            <a:pPr marL="0" lvl="0" indent="0" algn="l" rtl="0">
              <a:lnSpc>
                <a:spcPct val="115000"/>
              </a:lnSpc>
              <a:spcBef>
                <a:spcPts val="1200"/>
              </a:spcBef>
              <a:spcAft>
                <a:spcPts val="0"/>
              </a:spcAft>
              <a:buNone/>
            </a:pPr>
            <a:endParaRPr sz="1200" dirty="0">
              <a:solidFill>
                <a:srgbClr val="1F1F1F"/>
              </a:solidFill>
              <a:highlight>
                <a:srgbClr val="FFFFFF"/>
              </a:highlight>
            </a:endParaRPr>
          </a:p>
          <a:p>
            <a:pPr marL="0" lvl="0" indent="0" algn="l" rtl="0">
              <a:spcBef>
                <a:spcPts val="1200"/>
              </a:spcBef>
              <a:spcAft>
                <a:spcPts val="0"/>
              </a:spcAft>
              <a:buNone/>
            </a:pPr>
            <a:endParaRPr sz="1200" dirty="0">
              <a:solidFill>
                <a:srgbClr val="1F1F1F"/>
              </a:solidFill>
              <a:highlight>
                <a:srgbClr val="FFFFFF"/>
              </a:highlight>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c6f9e470d_0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32" name="Google Shape;132;gc6f9e470d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sz="1200">
                <a:solidFill>
                  <a:schemeClr val="dk1"/>
                </a:solidFill>
              </a:rPr>
              <a:t>Here you can see the timeline of our project development and a brief overview of the methodology behind our analysis.</a:t>
            </a:r>
            <a:endParaRPr sz="120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sz="1200">
                <a:solidFill>
                  <a:schemeClr val="dk1"/>
                </a:solidFill>
              </a:rPr>
              <a:t>We began with an </a:t>
            </a:r>
            <a:r>
              <a:rPr lang="en" sz="1200" b="1">
                <a:solidFill>
                  <a:schemeClr val="dk1"/>
                </a:solidFill>
              </a:rPr>
              <a:t>initial analysis</a:t>
            </a:r>
            <a:r>
              <a:rPr lang="en" sz="1200">
                <a:solidFill>
                  <a:schemeClr val="dk1"/>
                </a:solidFill>
              </a:rPr>
              <a:t>, where we explored available PWHL data sources and identified the key entities needed to model hockey game data.</a:t>
            </a:r>
            <a:endParaRPr sz="120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sz="1200">
                <a:solidFill>
                  <a:schemeClr val="dk1"/>
                </a:solidFill>
              </a:rPr>
              <a:t>Next, during the </a:t>
            </a:r>
            <a:r>
              <a:rPr lang="en" sz="1200" b="1">
                <a:solidFill>
                  <a:schemeClr val="dk1"/>
                </a:solidFill>
              </a:rPr>
              <a:t>preparation phase</a:t>
            </a:r>
            <a:r>
              <a:rPr lang="en" sz="1200">
                <a:solidFill>
                  <a:schemeClr val="dk1"/>
                </a:solidFill>
              </a:rPr>
              <a:t>, we designed an entity–relationship diagram and translated it into a normalized relational schema implemented in SQLite.</a:t>
            </a:r>
            <a:endParaRPr sz="120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sz="1200">
                <a:solidFill>
                  <a:schemeClr val="dk1"/>
                </a:solidFill>
              </a:rPr>
              <a:t>In the </a:t>
            </a:r>
            <a:r>
              <a:rPr lang="en" sz="1200" b="1">
                <a:solidFill>
                  <a:schemeClr val="dk1"/>
                </a:solidFill>
              </a:rPr>
              <a:t>analysis stage</a:t>
            </a:r>
            <a:r>
              <a:rPr lang="en" sz="1200">
                <a:solidFill>
                  <a:schemeClr val="dk1"/>
                </a:solidFill>
              </a:rPr>
              <a:t>, we wrote SQL queries using multi-table JOINs and subqueries to generate a shot-level dataset that connects game events, players, and teams.</a:t>
            </a:r>
            <a:endParaRPr sz="120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sz="1200">
                <a:solidFill>
                  <a:schemeClr val="dk1"/>
                </a:solidFill>
              </a:rPr>
              <a:t>We then </a:t>
            </a:r>
            <a:r>
              <a:rPr lang="en" sz="1200" b="1">
                <a:solidFill>
                  <a:schemeClr val="dk1"/>
                </a:solidFill>
              </a:rPr>
              <a:t>expanded </a:t>
            </a:r>
            <a:r>
              <a:rPr lang="en" sz="1200">
                <a:solidFill>
                  <a:schemeClr val="dk1"/>
                </a:solidFill>
              </a:rPr>
              <a:t>the project by cleaning and transforming the data using Python and pandas. We also built an ETL pipeline that integrates additional player statistics from the HockeyTech API.</a:t>
            </a:r>
            <a:endParaRPr sz="120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sz="1200">
                <a:solidFill>
                  <a:schemeClr val="dk1"/>
                </a:solidFill>
              </a:rPr>
              <a:t>Finally, we optimized query performance using indexing and completed our final analysis and presentation of the results.</a:t>
            </a:r>
            <a:endParaRPr sz="1200">
              <a:solidFill>
                <a:schemeClr val="dk1"/>
              </a:solidFill>
            </a:endParaRPr>
          </a:p>
          <a:p>
            <a:pPr marL="0" lvl="0" indent="0" algn="l" rtl="0">
              <a:spcBef>
                <a:spcPts val="120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3afc061dda1_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67" name="Google Shape;167;g3afc061dda1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sz="1200">
                <a:solidFill>
                  <a:schemeClr val="dk1"/>
                </a:solidFill>
              </a:rPr>
              <a:t>Now for Tools and Technologies – we used several tools across the data pipeline.</a:t>
            </a:r>
            <a:endParaRPr sz="120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sz="1200">
                <a:solidFill>
                  <a:schemeClr val="dk1"/>
                </a:solidFill>
              </a:rPr>
              <a:t>SQLite served as the relational database where we implemented our schema and stored the hockey data.</a:t>
            </a:r>
            <a:endParaRPr sz="120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sz="1200">
                <a:solidFill>
                  <a:schemeClr val="dk1"/>
                </a:solidFill>
              </a:rPr>
              <a:t>For analysis and data processing we used Python, specifically pandas within a Jupyter Notebook environment. This allowed us to load SQL query results directly into DataFrames for cleaning and transformation.</a:t>
            </a:r>
            <a:endParaRPr sz="120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sz="1200">
                <a:solidFill>
                  <a:schemeClr val="dk1"/>
                </a:solidFill>
              </a:rPr>
              <a:t>Finally, SQL was used extensively for relational querying, including the multi-table JOINs, nested subqueries, and query optimization techniques (like indexing).</a:t>
            </a:r>
            <a:endParaRPr sz="120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sz="1200">
                <a:solidFill>
                  <a:schemeClr val="dk1"/>
                </a:solidFill>
              </a:rPr>
              <a:t>Please feel free to view our github at the link provided on the screen. This is where our documentation will be permanently stored.</a:t>
            </a:r>
            <a:endParaRPr sz="1200">
              <a:solidFill>
                <a:schemeClr val="dk1"/>
              </a:solidFill>
            </a:endParaRPr>
          </a:p>
          <a:p>
            <a:pPr marL="0" lvl="0" indent="0" algn="l" rtl="0">
              <a:lnSpc>
                <a:spcPct val="115000"/>
              </a:lnSpc>
              <a:spcBef>
                <a:spcPts val="1200"/>
              </a:spcBef>
              <a:spcAft>
                <a:spcPts val="1200"/>
              </a:spcAft>
              <a:buNone/>
            </a:pPr>
            <a:endParaRPr b="1">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c6f9e470d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92" name="Google Shape;192;gc6f9e470d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3cdc464a179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98" name="Google Shape;198;g3cdc464a179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g3afdaf49081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378" name="Google Shape;378;g3afdaf49081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endParaRPr/>
          </a:p>
          <a:p>
            <a:pPr marL="0" lvl="0" indent="0" algn="l" rtl="0">
              <a:lnSpc>
                <a:spcPct val="115000"/>
              </a:lnSpc>
              <a:spcBef>
                <a:spcPts val="600"/>
              </a:spcBef>
              <a:spcAft>
                <a:spcPts val="0"/>
              </a:spcAft>
              <a:buNone/>
            </a:pPr>
            <a:endParaRPr/>
          </a:p>
          <a:p>
            <a:pPr marL="0" lvl="0" indent="0" algn="l" rtl="0">
              <a:spcBef>
                <a:spcPts val="600"/>
              </a:spcBef>
              <a:spcAft>
                <a:spcPts val="0"/>
              </a:spcAft>
              <a:buNone/>
            </a:pPr>
            <a:endParaRPr sz="1000">
              <a:solidFill>
                <a:schemeClr val="dk1"/>
              </a:solidFill>
              <a:highlight>
                <a:srgbClr val="FFFFFF"/>
              </a:highlight>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 name="Google Shape;16;p2"/>
          <p:cNvSpPr txBox="1">
            <a:spLocks noGrp="1"/>
          </p:cNvSpPr>
          <p:nvPr>
            <p:ph type="ctrTitle"/>
          </p:nvPr>
        </p:nvSpPr>
        <p:spPr>
          <a:xfrm>
            <a:off x="598100" y="1775222"/>
            <a:ext cx="8222100" cy="838800"/>
          </a:xfrm>
          <a:prstGeom prst="rect">
            <a:avLst/>
          </a:prstGeom>
        </p:spPr>
        <p:txBody>
          <a:bodyPr spcFirstLastPara="1" wrap="square" lIns="91425" tIns="91425" rIns="91425" bIns="91425" anchor="b" anchorCtr="0">
            <a:no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a:endParaRPr/>
          </a:p>
        </p:txBody>
      </p:sp>
      <p:sp>
        <p:nvSpPr>
          <p:cNvPr id="17" name="Google Shape;17;p2"/>
          <p:cNvSpPr txBox="1">
            <a:spLocks noGrp="1"/>
          </p:cNvSpPr>
          <p:nvPr>
            <p:ph type="subTitle" idx="1"/>
          </p:nvPr>
        </p:nvSpPr>
        <p:spPr>
          <a:xfrm>
            <a:off x="598088" y="2715913"/>
            <a:ext cx="8222100" cy="4329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a:endParaRPr/>
          </a:p>
        </p:txBody>
      </p:sp>
      <p:sp>
        <p:nvSpPr>
          <p:cNvPr id="18" name="Google Shape;18;p2"/>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9"/>
        <p:cNvGrpSpPr/>
        <p:nvPr/>
      </p:nvGrpSpPr>
      <p:grpSpPr>
        <a:xfrm>
          <a:off x="0" y="0"/>
          <a:ext cx="0" cy="0"/>
          <a:chOff x="0" y="0"/>
          <a:chExt cx="0" cy="0"/>
        </a:xfrm>
      </p:grpSpPr>
      <p:grpSp>
        <p:nvGrpSpPr>
          <p:cNvPr id="20" name="Google Shape;20;p3"/>
          <p:cNvGrpSpPr/>
          <p:nvPr/>
        </p:nvGrpSpPr>
        <p:grpSpPr>
          <a:xfrm>
            <a:off x="6098378" y="5"/>
            <a:ext cx="3045625" cy="2030570"/>
            <a:chOff x="6098378" y="5"/>
            <a:chExt cx="3045625" cy="2030570"/>
          </a:xfrm>
        </p:grpSpPr>
        <p:sp>
          <p:nvSpPr>
            <p:cNvPr id="21" name="Google Shape;21;p3"/>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 name="Google Shape;26;p3"/>
          <p:cNvSpPr txBox="1">
            <a:spLocks noGrp="1"/>
          </p:cNvSpPr>
          <p:nvPr>
            <p:ph type="title"/>
          </p:nvPr>
        </p:nvSpPr>
        <p:spPr>
          <a:xfrm>
            <a:off x="598100" y="2152347"/>
            <a:ext cx="8222100" cy="8388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a:endParaRPr/>
          </a:p>
        </p:txBody>
      </p:sp>
      <p:sp>
        <p:nvSpPr>
          <p:cNvPr id="27" name="Google Shape;27;p3"/>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8"/>
        <p:cNvGrpSpPr/>
        <p:nvPr/>
      </p:nvGrpSpPr>
      <p:grpSpPr>
        <a:xfrm>
          <a:off x="0" y="0"/>
          <a:ext cx="0" cy="0"/>
          <a:chOff x="0" y="0"/>
          <a:chExt cx="0" cy="0"/>
        </a:xfrm>
      </p:grpSpPr>
      <p:grpSp>
        <p:nvGrpSpPr>
          <p:cNvPr id="29" name="Google Shape;29;p4"/>
          <p:cNvGrpSpPr/>
          <p:nvPr/>
        </p:nvGrpSpPr>
        <p:grpSpPr>
          <a:xfrm>
            <a:off x="0" y="3903669"/>
            <a:ext cx="9144000" cy="1239925"/>
            <a:chOff x="0" y="3903669"/>
            <a:chExt cx="9144000" cy="1239925"/>
          </a:xfrm>
        </p:grpSpPr>
        <p:sp>
          <p:nvSpPr>
            <p:cNvPr id="30" name="Google Shape;30;p4"/>
            <p:cNvSpPr/>
            <p:nvPr/>
          </p:nvSpPr>
          <p:spPr>
            <a:xfrm>
              <a:off x="8154895"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4"/>
            <p:cNvSpPr/>
            <p:nvPr/>
          </p:nvSpPr>
          <p:spPr>
            <a:xfrm flipH="1">
              <a:off x="6181163"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4"/>
            <p:cNvSpPr/>
            <p:nvPr/>
          </p:nvSpPr>
          <p:spPr>
            <a:xfrm>
              <a:off x="7170274" y="3903669"/>
              <a:ext cx="989100" cy="9879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4"/>
            <p:cNvSpPr/>
            <p:nvPr/>
          </p:nvSpPr>
          <p:spPr>
            <a:xfrm rot="10800000">
              <a:off x="8154757" y="3903682"/>
              <a:ext cx="989100" cy="9879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4"/>
            <p:cNvSpPr/>
            <p:nvPr/>
          </p:nvSpPr>
          <p:spPr>
            <a:xfrm>
              <a:off x="0" y="4891594"/>
              <a:ext cx="9144000" cy="252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 name="Google Shape;35;p4"/>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6" name="Google Shape;36;p4"/>
          <p:cNvSpPr txBox="1">
            <a:spLocks noGrp="1"/>
          </p:cNvSpPr>
          <p:nvPr>
            <p:ph type="body" idx="1"/>
          </p:nvPr>
        </p:nvSpPr>
        <p:spPr>
          <a:xfrm>
            <a:off x="311700" y="1229875"/>
            <a:ext cx="8520600" cy="33390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37" name="Google Shape;37;p4"/>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3"/>
        <p:cNvGrpSpPr/>
        <p:nvPr/>
      </p:nvGrpSpPr>
      <p:grpSpPr>
        <a:xfrm>
          <a:off x="0" y="0"/>
          <a:ext cx="0" cy="0"/>
          <a:chOff x="0" y="0"/>
          <a:chExt cx="0" cy="0"/>
        </a:xfrm>
      </p:grpSpPr>
      <p:sp>
        <p:nvSpPr>
          <p:cNvPr id="44" name="Google Shape;44;p6"/>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5" name="Google Shape;45;p6"/>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6"/>
        <p:cNvGrpSpPr/>
        <p:nvPr/>
      </p:nvGrpSpPr>
      <p:grpSpPr>
        <a:xfrm>
          <a:off x="0" y="0"/>
          <a:ext cx="0" cy="0"/>
          <a:chOff x="0" y="0"/>
          <a:chExt cx="0" cy="0"/>
        </a:xfrm>
      </p:grpSpPr>
      <p:sp>
        <p:nvSpPr>
          <p:cNvPr id="47" name="Google Shape;47;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8" name="Google Shape;48;p7"/>
          <p:cNvSpPr txBox="1">
            <a:spLocks noGrp="1"/>
          </p:cNvSpPr>
          <p:nvPr>
            <p:ph type="body" idx="1"/>
          </p:nvPr>
        </p:nvSpPr>
        <p:spPr>
          <a:xfrm>
            <a:off x="311700" y="1465804"/>
            <a:ext cx="2808000" cy="31032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49" name="Google Shape;49;p7"/>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4"/>
        </a:solidFill>
        <a:effectLst/>
      </p:bgPr>
    </p:bg>
    <p:spTree>
      <p:nvGrpSpPr>
        <p:cNvPr id="1" name="Shape 50"/>
        <p:cNvGrpSpPr/>
        <p:nvPr/>
      </p:nvGrpSpPr>
      <p:grpSpPr>
        <a:xfrm>
          <a:off x="0" y="0"/>
          <a:ext cx="0" cy="0"/>
          <a:chOff x="0" y="0"/>
          <a:chExt cx="0" cy="0"/>
        </a:xfrm>
      </p:grpSpPr>
      <p:grpSp>
        <p:nvGrpSpPr>
          <p:cNvPr id="51" name="Google Shape;51;p8"/>
          <p:cNvGrpSpPr/>
          <p:nvPr/>
        </p:nvGrpSpPr>
        <p:grpSpPr>
          <a:xfrm>
            <a:off x="6098378" y="5"/>
            <a:ext cx="3045625" cy="2030570"/>
            <a:chOff x="6098378" y="5"/>
            <a:chExt cx="3045625" cy="2030570"/>
          </a:xfrm>
        </p:grpSpPr>
        <p:sp>
          <p:nvSpPr>
            <p:cNvPr id="52" name="Google Shape;52;p8"/>
            <p:cNvSpPr/>
            <p:nvPr/>
          </p:nvSpPr>
          <p:spPr>
            <a:xfrm>
              <a:off x="8128803" y="16"/>
              <a:ext cx="1015200" cy="1015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8"/>
            <p:cNvSpPr/>
            <p:nvPr/>
          </p:nvSpPr>
          <p:spPr>
            <a:xfrm flipH="1">
              <a:off x="7113463" y="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8"/>
            <p:cNvSpPr/>
            <p:nvPr/>
          </p:nvSpPr>
          <p:spPr>
            <a:xfrm rot="10800000" flipH="1">
              <a:off x="7113588" y="107"/>
              <a:ext cx="1015200" cy="10152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8"/>
            <p:cNvSpPr/>
            <p:nvPr/>
          </p:nvSpPr>
          <p:spPr>
            <a:xfrm rot="10800000">
              <a:off x="6098378" y="97"/>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8"/>
            <p:cNvSpPr/>
            <p:nvPr/>
          </p:nvSpPr>
          <p:spPr>
            <a:xfrm rot="10800000">
              <a:off x="8128789" y="101537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7" name="Google Shape;57;p8"/>
          <p:cNvSpPr txBox="1">
            <a:spLocks noGrp="1"/>
          </p:cNvSpPr>
          <p:nvPr>
            <p:ph type="title"/>
          </p:nvPr>
        </p:nvSpPr>
        <p:spPr>
          <a:xfrm>
            <a:off x="490250" y="526350"/>
            <a:ext cx="5618700" cy="40908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a:endParaRPr/>
          </a:p>
        </p:txBody>
      </p:sp>
      <p:sp>
        <p:nvSpPr>
          <p:cNvPr id="58" name="Google Shape;58;p8"/>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9"/>
        <p:cNvGrpSpPr/>
        <p:nvPr/>
      </p:nvGrpSpPr>
      <p:grpSpPr>
        <a:xfrm>
          <a:off x="0" y="0"/>
          <a:ext cx="0" cy="0"/>
          <a:chOff x="0" y="0"/>
          <a:chExt cx="0" cy="0"/>
        </a:xfrm>
      </p:grpSpPr>
      <p:sp>
        <p:nvSpPr>
          <p:cNvPr id="60" name="Google Shape;60;p9"/>
          <p:cNvSpPr/>
          <p:nvPr/>
        </p:nvSpPr>
        <p:spPr>
          <a:xfrm>
            <a:off x="4572000" y="-17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1" name="Google Shape;61;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62" name="Google Shape;62;p9"/>
          <p:cNvSpPr txBox="1">
            <a:spLocks noGrp="1"/>
          </p:cNvSpPr>
          <p:nvPr>
            <p:ph type="title"/>
          </p:nvPr>
        </p:nvSpPr>
        <p:spPr>
          <a:xfrm>
            <a:off x="265500" y="1151100"/>
            <a:ext cx="4045200" cy="15645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63" name="Google Shape;63;p9"/>
          <p:cNvSpPr txBox="1">
            <a:spLocks noGrp="1"/>
          </p:cNvSpPr>
          <p:nvPr>
            <p:ph type="subTitle" idx="1"/>
          </p:nvPr>
        </p:nvSpPr>
        <p:spPr>
          <a:xfrm>
            <a:off x="265500" y="2769001"/>
            <a:ext cx="4045200" cy="12693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64" name="Google Shape;64;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1600"/>
              </a:spcBef>
              <a:spcAft>
                <a:spcPts val="0"/>
              </a:spcAft>
              <a:buClr>
                <a:schemeClr val="lt1"/>
              </a:buClr>
              <a:buSzPts val="1400"/>
              <a:buChar char="○"/>
              <a:defRPr>
                <a:solidFill>
                  <a:schemeClr val="lt1"/>
                </a:solidFill>
              </a:defRPr>
            </a:lvl2pPr>
            <a:lvl3pPr marL="1371600" lvl="2" indent="-317500">
              <a:spcBef>
                <a:spcPts val="1600"/>
              </a:spcBef>
              <a:spcAft>
                <a:spcPts val="0"/>
              </a:spcAft>
              <a:buClr>
                <a:schemeClr val="lt1"/>
              </a:buClr>
              <a:buSzPts val="1400"/>
              <a:buChar char="■"/>
              <a:defRPr>
                <a:solidFill>
                  <a:schemeClr val="lt1"/>
                </a:solidFill>
              </a:defRPr>
            </a:lvl3pPr>
            <a:lvl4pPr marL="1828800" lvl="3" indent="-317500">
              <a:spcBef>
                <a:spcPts val="1600"/>
              </a:spcBef>
              <a:spcAft>
                <a:spcPts val="0"/>
              </a:spcAft>
              <a:buClr>
                <a:schemeClr val="lt1"/>
              </a:buClr>
              <a:buSzPts val="1400"/>
              <a:buChar char="●"/>
              <a:defRPr>
                <a:solidFill>
                  <a:schemeClr val="lt1"/>
                </a:solidFill>
              </a:defRPr>
            </a:lvl4pPr>
            <a:lvl5pPr marL="2286000" lvl="4" indent="-317500">
              <a:spcBef>
                <a:spcPts val="1600"/>
              </a:spcBef>
              <a:spcAft>
                <a:spcPts val="0"/>
              </a:spcAft>
              <a:buClr>
                <a:schemeClr val="lt1"/>
              </a:buClr>
              <a:buSzPts val="1400"/>
              <a:buChar char="○"/>
              <a:defRPr>
                <a:solidFill>
                  <a:schemeClr val="lt1"/>
                </a:solidFill>
              </a:defRPr>
            </a:lvl5pPr>
            <a:lvl6pPr marL="2743200" lvl="5" indent="-317500">
              <a:spcBef>
                <a:spcPts val="1600"/>
              </a:spcBef>
              <a:spcAft>
                <a:spcPts val="0"/>
              </a:spcAft>
              <a:buClr>
                <a:schemeClr val="lt1"/>
              </a:buClr>
              <a:buSzPts val="1400"/>
              <a:buChar char="■"/>
              <a:defRPr>
                <a:solidFill>
                  <a:schemeClr val="lt1"/>
                </a:solidFill>
              </a:defRPr>
            </a:lvl6pPr>
            <a:lvl7pPr marL="3200400" lvl="6" indent="-317500">
              <a:spcBef>
                <a:spcPts val="1600"/>
              </a:spcBef>
              <a:spcAft>
                <a:spcPts val="0"/>
              </a:spcAft>
              <a:buClr>
                <a:schemeClr val="lt1"/>
              </a:buClr>
              <a:buSzPts val="1400"/>
              <a:buChar char="●"/>
              <a:defRPr>
                <a:solidFill>
                  <a:schemeClr val="lt1"/>
                </a:solidFill>
              </a:defRPr>
            </a:lvl7pPr>
            <a:lvl8pPr marL="3657600" lvl="7" indent="-317500">
              <a:spcBef>
                <a:spcPts val="1600"/>
              </a:spcBef>
              <a:spcAft>
                <a:spcPts val="0"/>
              </a:spcAft>
              <a:buClr>
                <a:schemeClr val="lt1"/>
              </a:buClr>
              <a:buSzPts val="1400"/>
              <a:buChar char="○"/>
              <a:defRPr>
                <a:solidFill>
                  <a:schemeClr val="lt1"/>
                </a:solidFill>
              </a:defRPr>
            </a:lvl8pPr>
            <a:lvl9pPr marL="4114800" lvl="8" indent="-317500">
              <a:spcBef>
                <a:spcPts val="1600"/>
              </a:spcBef>
              <a:spcAft>
                <a:spcPts val="1600"/>
              </a:spcAft>
              <a:buClr>
                <a:schemeClr val="lt1"/>
              </a:buClr>
              <a:buSzPts val="1400"/>
              <a:buChar char="■"/>
              <a:defRPr>
                <a:solidFill>
                  <a:schemeClr val="lt1"/>
                </a:solidFill>
              </a:defRPr>
            </a:lvl9pPr>
          </a:lstStyle>
          <a:p>
            <a:endParaRPr/>
          </a:p>
        </p:txBody>
      </p:sp>
      <p:sp>
        <p:nvSpPr>
          <p:cNvPr id="65" name="Google Shape;65;p9"/>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6"/>
        <p:cNvGrpSpPr/>
        <p:nvPr/>
      </p:nvGrpSpPr>
      <p:grpSpPr>
        <a:xfrm>
          <a:off x="0" y="0"/>
          <a:ext cx="0" cy="0"/>
          <a:chOff x="0" y="0"/>
          <a:chExt cx="0" cy="0"/>
        </a:xfrm>
      </p:grpSpPr>
      <p:sp>
        <p:nvSpPr>
          <p:cNvPr id="67" name="Google Shape;67;p10"/>
          <p:cNvSpPr txBox="1">
            <a:spLocks noGrp="1"/>
          </p:cNvSpPr>
          <p:nvPr>
            <p:ph type="body" idx="1"/>
          </p:nvPr>
        </p:nvSpPr>
        <p:spPr>
          <a:xfrm>
            <a:off x="319500" y="4230575"/>
            <a:ext cx="5998800" cy="5988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68" name="Google Shape;68;p10"/>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69"/>
        <p:cNvGrpSpPr/>
        <p:nvPr/>
      </p:nvGrpSpPr>
      <p:grpSpPr>
        <a:xfrm>
          <a:off x="0" y="0"/>
          <a:ext cx="0" cy="0"/>
          <a:chOff x="0" y="0"/>
          <a:chExt cx="0" cy="0"/>
        </a:xfrm>
      </p:grpSpPr>
      <p:grpSp>
        <p:nvGrpSpPr>
          <p:cNvPr id="70" name="Google Shape;70;p11"/>
          <p:cNvGrpSpPr/>
          <p:nvPr/>
        </p:nvGrpSpPr>
        <p:grpSpPr>
          <a:xfrm>
            <a:off x="6098378" y="5"/>
            <a:ext cx="3045625" cy="2030570"/>
            <a:chOff x="6098378" y="5"/>
            <a:chExt cx="3045625" cy="2030570"/>
          </a:xfrm>
        </p:grpSpPr>
        <p:sp>
          <p:nvSpPr>
            <p:cNvPr id="71" name="Google Shape;71;p11"/>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11"/>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11"/>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11"/>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11"/>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6" name="Google Shape;76;p11"/>
          <p:cNvSpPr txBox="1">
            <a:spLocks noGrp="1"/>
          </p:cNvSpPr>
          <p:nvPr>
            <p:ph type="title" hasCustomPrompt="1"/>
          </p:nvPr>
        </p:nvSpPr>
        <p:spPr>
          <a:xfrm>
            <a:off x="311700" y="1256050"/>
            <a:ext cx="8520600" cy="20307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lt1"/>
              </a:buClr>
              <a:buSzPts val="12000"/>
              <a:buNone/>
              <a:defRPr sz="12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77" name="Google Shape;77;p11"/>
          <p:cNvSpPr txBox="1">
            <a:spLocks noGrp="1"/>
          </p:cNvSpPr>
          <p:nvPr>
            <p:ph type="body" idx="1"/>
          </p:nvPr>
        </p:nvSpPr>
        <p:spPr>
          <a:xfrm>
            <a:off x="311700" y="3369225"/>
            <a:ext cx="8520600" cy="12819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Clr>
                <a:schemeClr val="lt1"/>
              </a:buClr>
              <a:buSzPts val="1800"/>
              <a:buChar char="●"/>
              <a:defRPr>
                <a:solidFill>
                  <a:schemeClr val="lt1"/>
                </a:solidFill>
              </a:defRPr>
            </a:lvl1pPr>
            <a:lvl2pPr marL="914400" lvl="1" indent="-317500" algn="ctr">
              <a:spcBef>
                <a:spcPts val="1600"/>
              </a:spcBef>
              <a:spcAft>
                <a:spcPts val="0"/>
              </a:spcAft>
              <a:buClr>
                <a:schemeClr val="lt1"/>
              </a:buClr>
              <a:buSzPts val="1400"/>
              <a:buChar char="○"/>
              <a:defRPr>
                <a:solidFill>
                  <a:schemeClr val="lt1"/>
                </a:solidFill>
              </a:defRPr>
            </a:lvl2pPr>
            <a:lvl3pPr marL="1371600" lvl="2" indent="-317500" algn="ctr">
              <a:spcBef>
                <a:spcPts val="1600"/>
              </a:spcBef>
              <a:spcAft>
                <a:spcPts val="0"/>
              </a:spcAft>
              <a:buClr>
                <a:schemeClr val="lt1"/>
              </a:buClr>
              <a:buSzPts val="1400"/>
              <a:buChar char="■"/>
              <a:defRPr>
                <a:solidFill>
                  <a:schemeClr val="lt1"/>
                </a:solidFill>
              </a:defRPr>
            </a:lvl3pPr>
            <a:lvl4pPr marL="1828800" lvl="3" indent="-317500" algn="ctr">
              <a:spcBef>
                <a:spcPts val="1600"/>
              </a:spcBef>
              <a:spcAft>
                <a:spcPts val="0"/>
              </a:spcAft>
              <a:buClr>
                <a:schemeClr val="lt1"/>
              </a:buClr>
              <a:buSzPts val="1400"/>
              <a:buChar char="●"/>
              <a:defRPr>
                <a:solidFill>
                  <a:schemeClr val="lt1"/>
                </a:solidFill>
              </a:defRPr>
            </a:lvl4pPr>
            <a:lvl5pPr marL="2286000" lvl="4" indent="-317500" algn="ctr">
              <a:spcBef>
                <a:spcPts val="1600"/>
              </a:spcBef>
              <a:spcAft>
                <a:spcPts val="0"/>
              </a:spcAft>
              <a:buClr>
                <a:schemeClr val="lt1"/>
              </a:buClr>
              <a:buSzPts val="1400"/>
              <a:buChar char="○"/>
              <a:defRPr>
                <a:solidFill>
                  <a:schemeClr val="lt1"/>
                </a:solidFill>
              </a:defRPr>
            </a:lvl5pPr>
            <a:lvl6pPr marL="2743200" lvl="5" indent="-317500" algn="ctr">
              <a:spcBef>
                <a:spcPts val="1600"/>
              </a:spcBef>
              <a:spcAft>
                <a:spcPts val="0"/>
              </a:spcAft>
              <a:buClr>
                <a:schemeClr val="lt1"/>
              </a:buClr>
              <a:buSzPts val="1400"/>
              <a:buChar char="■"/>
              <a:defRPr>
                <a:solidFill>
                  <a:schemeClr val="lt1"/>
                </a:solidFill>
              </a:defRPr>
            </a:lvl6pPr>
            <a:lvl7pPr marL="3200400" lvl="6" indent="-317500" algn="ctr">
              <a:spcBef>
                <a:spcPts val="1600"/>
              </a:spcBef>
              <a:spcAft>
                <a:spcPts val="0"/>
              </a:spcAft>
              <a:buClr>
                <a:schemeClr val="lt1"/>
              </a:buClr>
              <a:buSzPts val="1400"/>
              <a:buChar char="●"/>
              <a:defRPr>
                <a:solidFill>
                  <a:schemeClr val="lt1"/>
                </a:solidFill>
              </a:defRPr>
            </a:lvl7pPr>
            <a:lvl8pPr marL="3657600" lvl="7" indent="-317500" algn="ctr">
              <a:spcBef>
                <a:spcPts val="1600"/>
              </a:spcBef>
              <a:spcAft>
                <a:spcPts val="0"/>
              </a:spcAft>
              <a:buClr>
                <a:schemeClr val="lt1"/>
              </a:buClr>
              <a:buSzPts val="1400"/>
              <a:buChar char="○"/>
              <a:defRPr>
                <a:solidFill>
                  <a:schemeClr val="lt1"/>
                </a:solidFill>
              </a:defRPr>
            </a:lvl8pPr>
            <a:lvl9pPr marL="4114800" lvl="8" indent="-317500" algn="ctr">
              <a:spcBef>
                <a:spcPts val="1600"/>
              </a:spcBef>
              <a:spcAft>
                <a:spcPts val="1600"/>
              </a:spcAft>
              <a:buClr>
                <a:schemeClr val="lt1"/>
              </a:buClr>
              <a:buSzPts val="1400"/>
              <a:buChar char="■"/>
              <a:defRPr>
                <a:solidFill>
                  <a:schemeClr val="lt1"/>
                </a:solidFill>
              </a:defRPr>
            </a:lvl9pPr>
          </a:lstStyle>
          <a:p>
            <a:endParaRPr/>
          </a:p>
        </p:txBody>
      </p:sp>
      <p:sp>
        <p:nvSpPr>
          <p:cNvPr id="78" name="Google Shape;78;p11"/>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9"/>
        <p:cNvGrpSpPr/>
        <p:nvPr/>
      </p:nvGrpSpPr>
      <p:grpSpPr>
        <a:xfrm>
          <a:off x="0" y="0"/>
          <a:ext cx="0" cy="0"/>
          <a:chOff x="0" y="0"/>
          <a:chExt cx="0" cy="0"/>
        </a:xfrm>
      </p:grpSpPr>
      <p:sp>
        <p:nvSpPr>
          <p:cNvPr id="80" name="Google Shape;80;p12"/>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geometric">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a:endParaRPr/>
          </a:p>
        </p:txBody>
      </p:sp>
      <p:sp>
        <p:nvSpPr>
          <p:cNvPr id="7" name="Google Shape;7;p1"/>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marL="914400" lvl="1"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2pPr>
            <a:lvl3pPr marL="1371600" lvl="2"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3pPr>
            <a:lvl4pPr marL="1828800" lvl="3"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4pPr>
            <a:lvl5pPr marL="2286000" lvl="4"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5pPr>
            <a:lvl6pPr marL="2743200" lvl="5"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6pPr>
            <a:lvl7pPr marL="3200400" lvl="6"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7pPr>
            <a:lvl8pPr marL="3657600" lvl="7"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8pPr>
            <a:lvl9pPr marL="4114800" lvl="8" indent="-317500">
              <a:lnSpc>
                <a:spcPct val="115000"/>
              </a:lnSpc>
              <a:spcBef>
                <a:spcPts val="1600"/>
              </a:spcBef>
              <a:spcAft>
                <a:spcPts val="1600"/>
              </a:spcAft>
              <a:buClr>
                <a:schemeClr val="dk2"/>
              </a:buClr>
              <a:buSzPts val="1400"/>
              <a:buFont typeface="Roboto"/>
              <a:buChar char="■"/>
              <a:defRPr>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hyperlink" Target="https://www.samhsa.gov/data/data-we-collect/nsduh-national-survey-drug-use-and-health/datafiles/2020" TargetMode="External"/><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customXml" Target="../ink/ink6.xml"/><Relationship Id="rId18" Type="http://schemas.openxmlformats.org/officeDocument/2006/relationships/image" Target="../media/image10.png"/><Relationship Id="rId3" Type="http://schemas.openxmlformats.org/officeDocument/2006/relationships/customXml" Target="../ink/ink1.xml"/><Relationship Id="rId7" Type="http://schemas.openxmlformats.org/officeDocument/2006/relationships/customXml" Target="../ink/ink3.xml"/><Relationship Id="rId12" Type="http://schemas.openxmlformats.org/officeDocument/2006/relationships/image" Target="../media/image7.png"/><Relationship Id="rId17" Type="http://schemas.openxmlformats.org/officeDocument/2006/relationships/customXml" Target="../ink/ink8.xml"/><Relationship Id="rId2" Type="http://schemas.openxmlformats.org/officeDocument/2006/relationships/notesSlide" Target="../notesSlides/notesSlide6.xml"/><Relationship Id="rId16" Type="http://schemas.openxmlformats.org/officeDocument/2006/relationships/image" Target="../media/image9.png"/><Relationship Id="rId20" Type="http://schemas.openxmlformats.org/officeDocument/2006/relationships/image" Target="../media/image11.png"/><Relationship Id="rId1" Type="http://schemas.openxmlformats.org/officeDocument/2006/relationships/slideLayout" Target="../slideLayouts/slideLayout5.xml"/><Relationship Id="rId6" Type="http://schemas.openxmlformats.org/officeDocument/2006/relationships/image" Target="../media/image4.png"/><Relationship Id="rId11" Type="http://schemas.openxmlformats.org/officeDocument/2006/relationships/customXml" Target="../ink/ink5.xml"/><Relationship Id="rId5" Type="http://schemas.openxmlformats.org/officeDocument/2006/relationships/customXml" Target="../ink/ink2.xml"/><Relationship Id="rId15" Type="http://schemas.openxmlformats.org/officeDocument/2006/relationships/customXml" Target="../ink/ink7.xml"/><Relationship Id="rId10" Type="http://schemas.openxmlformats.org/officeDocument/2006/relationships/image" Target="../media/image6.png"/><Relationship Id="rId19" Type="http://schemas.openxmlformats.org/officeDocument/2006/relationships/customXml" Target="../ink/ink9.xml"/><Relationship Id="rId4" Type="http://schemas.openxmlformats.org/officeDocument/2006/relationships/image" Target="../media/image3.png"/><Relationship Id="rId9" Type="http://schemas.openxmlformats.org/officeDocument/2006/relationships/customXml" Target="../ink/ink4.xml"/><Relationship Id="rId14"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3"/>
          <p:cNvSpPr txBox="1">
            <a:spLocks noGrp="1"/>
          </p:cNvSpPr>
          <p:nvPr>
            <p:ph type="ctrTitle"/>
          </p:nvPr>
        </p:nvSpPr>
        <p:spPr>
          <a:xfrm>
            <a:off x="598100" y="2571749"/>
            <a:ext cx="8222100" cy="492000"/>
          </a:xfrm>
          <a:prstGeom prst="rect">
            <a:avLst/>
          </a:prstGeom>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 dirty="0"/>
              <a:t>Youth Substance Use </a:t>
            </a:r>
            <a:endParaRPr lang="en-US" dirty="0"/>
          </a:p>
          <a:p>
            <a:pPr marL="0" lvl="0" indent="0" algn="l" rtl="0">
              <a:lnSpc>
                <a:spcPct val="115000"/>
              </a:lnSpc>
              <a:spcBef>
                <a:spcPts val="0"/>
              </a:spcBef>
              <a:spcAft>
                <a:spcPts val="0"/>
              </a:spcAft>
              <a:buNone/>
            </a:pPr>
            <a:r>
              <a:rPr lang="en-US" sz="1800" dirty="0">
                <a:solidFill>
                  <a:schemeClr val="lt2"/>
                </a:solidFill>
              </a:rPr>
              <a:t>DATA 5322: Statistical Machine Learning II</a:t>
            </a:r>
          </a:p>
        </p:txBody>
      </p:sp>
      <p:sp>
        <p:nvSpPr>
          <p:cNvPr id="86" name="Google Shape;86;p13"/>
          <p:cNvSpPr txBox="1">
            <a:spLocks noGrp="1"/>
          </p:cNvSpPr>
          <p:nvPr>
            <p:ph type="subTitle" idx="1"/>
          </p:nvPr>
        </p:nvSpPr>
        <p:spPr>
          <a:xfrm>
            <a:off x="598100" y="3694569"/>
            <a:ext cx="8222100" cy="838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000" b="1" dirty="0"/>
              <a:t>Njenga Gakwa</a:t>
            </a:r>
            <a:endParaRPr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15"/>
          <p:cNvSpPr txBox="1">
            <a:spLocks noGrp="1"/>
          </p:cNvSpPr>
          <p:nvPr>
            <p:ph type="title"/>
          </p:nvPr>
        </p:nvSpPr>
        <p:spPr>
          <a:xfrm>
            <a:off x="245750" y="1376550"/>
            <a:ext cx="4045200" cy="1564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Introduction</a:t>
            </a:r>
            <a:endParaRPr/>
          </a:p>
        </p:txBody>
      </p:sp>
      <p:sp>
        <p:nvSpPr>
          <p:cNvPr id="112" name="Google Shape;112;p15"/>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p>
            <a:pPr marL="457200" lvl="0" indent="-317500" algn="l" rtl="0">
              <a:spcBef>
                <a:spcPts val="0"/>
              </a:spcBef>
              <a:spcAft>
                <a:spcPts val="0"/>
              </a:spcAft>
              <a:buClr>
                <a:schemeClr val="lt1"/>
              </a:buClr>
              <a:buSzPts val="1400"/>
              <a:buChar char="●"/>
            </a:pPr>
            <a:r>
              <a:rPr lang="en" sz="1400" dirty="0"/>
              <a:t>Domain Problem </a:t>
            </a:r>
            <a:endParaRPr sz="1400" dirty="0"/>
          </a:p>
          <a:p>
            <a:pPr marL="457200" lvl="0" indent="-317500" algn="l" rtl="0">
              <a:spcBef>
                <a:spcPts val="0"/>
              </a:spcBef>
              <a:spcAft>
                <a:spcPts val="0"/>
              </a:spcAft>
              <a:buClr>
                <a:schemeClr val="lt1"/>
              </a:buClr>
              <a:buSzPts val="1400"/>
              <a:buChar char="●"/>
            </a:pPr>
            <a:r>
              <a:rPr lang="en" sz="1400" dirty="0"/>
              <a:t>Project Overview</a:t>
            </a:r>
            <a:endParaRPr sz="1400" dirty="0"/>
          </a:p>
          <a:p>
            <a:pPr marL="0" lvl="0" indent="0" algn="l" rtl="0">
              <a:spcBef>
                <a:spcPts val="800"/>
              </a:spcBef>
              <a:spcAft>
                <a:spcPts val="800"/>
              </a:spcAft>
              <a:buNone/>
            </a:pPr>
            <a:endParaRPr sz="1500" dirty="0"/>
          </a:p>
        </p:txBody>
      </p:sp>
      <p:sp>
        <p:nvSpPr>
          <p:cNvPr id="113" name="Google Shape;113;p15"/>
          <p:cNvSpPr txBox="1"/>
          <p:nvPr/>
        </p:nvSpPr>
        <p:spPr>
          <a:xfrm>
            <a:off x="0" y="0"/>
            <a:ext cx="3000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16"/>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Domain Problem </a:t>
            </a:r>
            <a:endParaRPr b="1" dirty="0"/>
          </a:p>
        </p:txBody>
      </p:sp>
      <p:sp>
        <p:nvSpPr>
          <p:cNvPr id="119" name="Google Shape;119;p16"/>
          <p:cNvSpPr txBox="1"/>
          <p:nvPr/>
        </p:nvSpPr>
        <p:spPr>
          <a:xfrm>
            <a:off x="184580" y="1442155"/>
            <a:ext cx="4332420" cy="3291345"/>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sz="1600" dirty="0">
              <a:solidFill>
                <a:srgbClr val="1F1F1F"/>
              </a:solidFill>
            </a:endParaRPr>
          </a:p>
          <a:p>
            <a:pPr marL="0" lvl="0" indent="0" algn="l" rtl="0">
              <a:lnSpc>
                <a:spcPct val="100000"/>
              </a:lnSpc>
              <a:spcBef>
                <a:spcPts val="0"/>
              </a:spcBef>
              <a:spcAft>
                <a:spcPts val="0"/>
              </a:spcAft>
              <a:buNone/>
            </a:pPr>
            <a:r>
              <a:rPr lang="en" sz="1600" b="1" dirty="0"/>
              <a:t>Research Question:</a:t>
            </a:r>
            <a:endParaRPr sz="1600" b="1" dirty="0"/>
          </a:p>
          <a:p>
            <a:pPr marL="0" lvl="0" indent="0" algn="l" rtl="0">
              <a:lnSpc>
                <a:spcPct val="100000"/>
              </a:lnSpc>
              <a:spcBef>
                <a:spcPts val="0"/>
              </a:spcBef>
              <a:spcAft>
                <a:spcPts val="0"/>
              </a:spcAft>
              <a:buNone/>
            </a:pPr>
            <a:endParaRPr dirty="0"/>
          </a:p>
          <a:p>
            <a:pPr marL="0" lvl="0" indent="0" algn="l" rtl="0">
              <a:spcBef>
                <a:spcPts val="0"/>
              </a:spcBef>
              <a:spcAft>
                <a:spcPts val="0"/>
              </a:spcAft>
              <a:buNone/>
            </a:pPr>
            <a:r>
              <a:rPr lang="en" dirty="0"/>
              <a:t>How do demographic and household factors influence substance use and its frequency in the youth under 18?</a:t>
            </a:r>
          </a:p>
          <a:p>
            <a:pPr lvl="1"/>
            <a:endParaRPr lang="en" sz="1800" b="1" i="1" dirty="0">
              <a:highlight>
                <a:srgbClr val="FFFFFF"/>
              </a:highlight>
            </a:endParaRPr>
          </a:p>
          <a:p>
            <a:pPr lvl="1"/>
            <a:r>
              <a:rPr lang="en" b="1" i="1" dirty="0">
                <a:highlight>
                  <a:srgbClr val="FFFFFF"/>
                </a:highlight>
              </a:rPr>
              <a:t>Focus on: </a:t>
            </a:r>
          </a:p>
          <a:p>
            <a:pPr marL="285750" lvl="3" indent="-285750">
              <a:buFont typeface="Arial" panose="020B0604020202020204" pitchFamily="34" charset="0"/>
              <a:buChar char="•"/>
            </a:pPr>
            <a:r>
              <a:rPr lang="en" i="1" dirty="0">
                <a:highlight>
                  <a:srgbClr val="FFFFFF"/>
                </a:highlight>
              </a:rPr>
              <a:t>Alcohol use (binary)</a:t>
            </a:r>
          </a:p>
          <a:p>
            <a:pPr marL="285750" lvl="3" indent="-285750">
              <a:buFont typeface="Arial" panose="020B0604020202020204" pitchFamily="34" charset="0"/>
              <a:buChar char="•"/>
            </a:pPr>
            <a:r>
              <a:rPr lang="en" i="1" dirty="0">
                <a:highlight>
                  <a:srgbClr val="FFFFFF"/>
                </a:highlight>
              </a:rPr>
              <a:t>Marijuana use (multi-class)</a:t>
            </a:r>
          </a:p>
          <a:p>
            <a:pPr marL="285750" lvl="3" indent="-285750">
              <a:buFont typeface="Arial" panose="020B0604020202020204" pitchFamily="34" charset="0"/>
              <a:buChar char="•"/>
            </a:pPr>
            <a:r>
              <a:rPr lang="en-US" i="1" dirty="0">
                <a:highlight>
                  <a:srgbClr val="FFFFFF"/>
                </a:highlight>
              </a:rPr>
              <a:t>C</a:t>
            </a:r>
            <a:r>
              <a:rPr lang="en" i="1" dirty="0">
                <a:highlight>
                  <a:srgbClr val="FFFFFF"/>
                </a:highlight>
              </a:rPr>
              <a:t>igarette use frequency (regression)</a:t>
            </a:r>
          </a:p>
          <a:p>
            <a:pPr marL="285750" lvl="1" indent="-285750">
              <a:buFont typeface="Arial" panose="020B0604020202020204" pitchFamily="34" charset="0"/>
              <a:buChar char="•"/>
            </a:pPr>
            <a:endParaRPr sz="1800" b="1" i="1" dirty="0">
              <a:highlight>
                <a:srgbClr val="FFFFFF"/>
              </a:highlight>
            </a:endParaRPr>
          </a:p>
          <a:p>
            <a:pPr marL="0" lvl="0" indent="0" algn="l" rtl="0">
              <a:spcBef>
                <a:spcPts val="0"/>
              </a:spcBef>
              <a:spcAft>
                <a:spcPts val="0"/>
              </a:spcAft>
              <a:buNone/>
            </a:pPr>
            <a:endParaRPr sz="1800" dirty="0">
              <a:solidFill>
                <a:schemeClr val="dk2"/>
              </a:solidFill>
              <a:latin typeface="Roboto"/>
              <a:ea typeface="Roboto"/>
              <a:cs typeface="Roboto"/>
              <a:sym typeface="Roboto"/>
            </a:endParaRPr>
          </a:p>
        </p:txBody>
      </p:sp>
      <p:pic>
        <p:nvPicPr>
          <p:cNvPr id="5" name="Picture 4">
            <a:extLst>
              <a:ext uri="{FF2B5EF4-FFF2-40B4-BE49-F238E27FC236}">
                <a16:creationId xmlns:a16="http://schemas.microsoft.com/office/drawing/2014/main" id="{877CA1CD-09E7-92ED-D52E-FB212EF7FAE0}"/>
              </a:ext>
            </a:extLst>
          </p:cNvPr>
          <p:cNvPicPr>
            <a:picLocks noChangeAspect="1"/>
          </p:cNvPicPr>
          <p:nvPr/>
        </p:nvPicPr>
        <p:blipFill>
          <a:blip r:embed="rId3"/>
          <a:stretch>
            <a:fillRect/>
          </a:stretch>
        </p:blipFill>
        <p:spPr>
          <a:xfrm>
            <a:off x="4627003" y="1442155"/>
            <a:ext cx="4332418" cy="317037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7"/>
          <p:cNvSpPr txBox="1">
            <a:spLocks noGrp="1"/>
          </p:cNvSpPr>
          <p:nvPr>
            <p:ph type="title"/>
          </p:nvPr>
        </p:nvSpPr>
        <p:spPr>
          <a:xfrm>
            <a:off x="323613" y="346200"/>
            <a:ext cx="8520600" cy="60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Data Overview</a:t>
            </a:r>
            <a:endParaRPr b="1" dirty="0"/>
          </a:p>
        </p:txBody>
      </p:sp>
      <p:sp>
        <p:nvSpPr>
          <p:cNvPr id="126" name="Google Shape;126;p17"/>
          <p:cNvSpPr txBox="1"/>
          <p:nvPr/>
        </p:nvSpPr>
        <p:spPr>
          <a:xfrm>
            <a:off x="491836" y="1261625"/>
            <a:ext cx="8132619" cy="754211"/>
          </a:xfrm>
          <a:prstGeom prst="rect">
            <a:avLst/>
          </a:prstGeom>
          <a:noFill/>
          <a:ln>
            <a:noFill/>
          </a:ln>
        </p:spPr>
        <p:txBody>
          <a:bodyPr spcFirstLastPara="1" wrap="square" lIns="91425" tIns="91425" rIns="91425" bIns="91425" anchor="t" anchorCtr="0">
            <a:noAutofit/>
          </a:bodyPr>
          <a:lstStyle/>
          <a:p>
            <a:pPr marL="342900" lvl="0" indent="-342900" rtl="0">
              <a:spcBef>
                <a:spcPts val="0"/>
              </a:spcBef>
              <a:spcAft>
                <a:spcPts val="0"/>
              </a:spcAft>
              <a:buFont typeface="Arial" panose="020B0604020202020204" pitchFamily="34" charset="0"/>
              <a:buChar char="•"/>
            </a:pPr>
            <a:r>
              <a:rPr lang="en" sz="2400" b="1" dirty="0"/>
              <a:t>Source: </a:t>
            </a:r>
            <a:r>
              <a:rPr lang="en" sz="2400" dirty="0">
                <a:hlinkClick r:id="rId3"/>
              </a:rPr>
              <a:t>National Survey on Drug Use and Health</a:t>
            </a:r>
            <a:endParaRPr lang="en" sz="2400" dirty="0"/>
          </a:p>
          <a:p>
            <a:pPr marL="0" lvl="0" indent="0" rtl="0">
              <a:spcBef>
                <a:spcPts val="0"/>
              </a:spcBef>
              <a:spcAft>
                <a:spcPts val="0"/>
              </a:spcAft>
              <a:buNone/>
            </a:pPr>
            <a:endParaRPr lang="en" sz="2400" b="1" dirty="0"/>
          </a:p>
          <a:p>
            <a:pPr marL="0" lvl="0" indent="0" rtl="0">
              <a:spcBef>
                <a:spcPts val="0"/>
              </a:spcBef>
              <a:spcAft>
                <a:spcPts val="0"/>
              </a:spcAft>
              <a:buNone/>
            </a:pPr>
            <a:endParaRPr sz="1600" dirty="0"/>
          </a:p>
          <a:p>
            <a:pPr marL="0" lvl="0" indent="0" rtl="0">
              <a:spcBef>
                <a:spcPts val="0"/>
              </a:spcBef>
              <a:spcAft>
                <a:spcPts val="0"/>
              </a:spcAft>
              <a:buNone/>
            </a:pPr>
            <a:endParaRPr sz="1800" dirty="0">
              <a:solidFill>
                <a:schemeClr val="dk2"/>
              </a:solidFill>
              <a:latin typeface="Roboto"/>
              <a:ea typeface="Roboto"/>
              <a:cs typeface="Roboto"/>
              <a:sym typeface="Roboto"/>
            </a:endParaRPr>
          </a:p>
        </p:txBody>
      </p:sp>
      <p:sp>
        <p:nvSpPr>
          <p:cNvPr id="128" name="Google Shape;128;p17"/>
          <p:cNvSpPr txBox="1"/>
          <p:nvPr/>
        </p:nvSpPr>
        <p:spPr>
          <a:xfrm>
            <a:off x="986421" y="3469754"/>
            <a:ext cx="2514601" cy="1034099"/>
          </a:xfrm>
          <a:prstGeom prst="rect">
            <a:avLst/>
          </a:prstGeom>
          <a:noFill/>
          <a:ln>
            <a:noFill/>
          </a:ln>
        </p:spPr>
        <p:txBody>
          <a:bodyPr spcFirstLastPara="1" wrap="square" lIns="91425" tIns="91425" rIns="91425" bIns="91425" anchor="t" anchorCtr="0">
            <a:spAutoFit/>
          </a:bodyPr>
          <a:lstStyle/>
          <a:p>
            <a:pPr marL="457200" lvl="0" indent="-304800" algn="l" rtl="0">
              <a:lnSpc>
                <a:spcPct val="115000"/>
              </a:lnSpc>
              <a:spcBef>
                <a:spcPts val="0"/>
              </a:spcBef>
              <a:spcAft>
                <a:spcPts val="0"/>
              </a:spcAft>
              <a:buClr>
                <a:srgbClr val="1F1F1F"/>
              </a:buClr>
              <a:buSzPts val="1200"/>
              <a:buChar char="●"/>
            </a:pPr>
            <a:r>
              <a:rPr lang="en" sz="1200" b="1" dirty="0">
                <a:solidFill>
                  <a:srgbClr val="1F1F1F"/>
                </a:solidFill>
              </a:rPr>
              <a:t>sex</a:t>
            </a:r>
            <a:endParaRPr sz="1200" dirty="0">
              <a:solidFill>
                <a:srgbClr val="1F1F1F"/>
              </a:solidFill>
            </a:endParaRPr>
          </a:p>
          <a:p>
            <a:pPr marL="457200" lvl="0" indent="-304800" algn="l" rtl="0">
              <a:lnSpc>
                <a:spcPct val="115000"/>
              </a:lnSpc>
              <a:spcBef>
                <a:spcPts val="0"/>
              </a:spcBef>
              <a:spcAft>
                <a:spcPts val="0"/>
              </a:spcAft>
              <a:buClr>
                <a:srgbClr val="1F1F1F"/>
              </a:buClr>
              <a:buSzPts val="1200"/>
              <a:buChar char="●"/>
            </a:pPr>
            <a:r>
              <a:rPr lang="en" sz="1200" b="1" dirty="0">
                <a:solidFill>
                  <a:srgbClr val="1F1F1F"/>
                </a:solidFill>
              </a:rPr>
              <a:t>race</a:t>
            </a:r>
            <a:endParaRPr sz="1200" dirty="0">
              <a:solidFill>
                <a:srgbClr val="1F1F1F"/>
              </a:solidFill>
            </a:endParaRPr>
          </a:p>
          <a:p>
            <a:pPr marL="457200" lvl="0" indent="-304800" algn="l" rtl="0">
              <a:lnSpc>
                <a:spcPct val="115000"/>
              </a:lnSpc>
              <a:spcBef>
                <a:spcPts val="0"/>
              </a:spcBef>
              <a:spcAft>
                <a:spcPts val="0"/>
              </a:spcAft>
              <a:buClr>
                <a:srgbClr val="1F1F1F"/>
              </a:buClr>
              <a:buSzPts val="1200"/>
              <a:buChar char="●"/>
            </a:pPr>
            <a:r>
              <a:rPr lang="en" sz="1200" b="1" dirty="0">
                <a:solidFill>
                  <a:srgbClr val="1F1F1F"/>
                </a:solidFill>
              </a:rPr>
              <a:t>Income</a:t>
            </a:r>
            <a:endParaRPr sz="1200" dirty="0">
              <a:solidFill>
                <a:srgbClr val="1F1F1F"/>
              </a:solidFill>
            </a:endParaRPr>
          </a:p>
          <a:p>
            <a:pPr marL="457200" lvl="0" indent="-304800" algn="l" rtl="0">
              <a:lnSpc>
                <a:spcPct val="115000"/>
              </a:lnSpc>
              <a:spcBef>
                <a:spcPts val="0"/>
              </a:spcBef>
              <a:spcAft>
                <a:spcPts val="0"/>
              </a:spcAft>
              <a:buClr>
                <a:srgbClr val="1F1F1F"/>
              </a:buClr>
              <a:buSzPts val="1200"/>
              <a:buChar char="●"/>
            </a:pPr>
            <a:r>
              <a:rPr lang="en-US" sz="1200" b="1" dirty="0">
                <a:solidFill>
                  <a:srgbClr val="1F1F1F"/>
                </a:solidFill>
              </a:rPr>
              <a:t>P</a:t>
            </a:r>
            <a:r>
              <a:rPr lang="en" sz="1200" b="1" dirty="0">
                <a:solidFill>
                  <a:srgbClr val="1F1F1F"/>
                </a:solidFill>
              </a:rPr>
              <a:t>overty level</a:t>
            </a:r>
            <a:endParaRPr sz="1200" dirty="0">
              <a:solidFill>
                <a:srgbClr val="1F1F1F"/>
              </a:solidFill>
            </a:endParaRPr>
          </a:p>
        </p:txBody>
      </p:sp>
      <p:sp>
        <p:nvSpPr>
          <p:cNvPr id="129" name="Google Shape;129;p17"/>
          <p:cNvSpPr txBox="1"/>
          <p:nvPr/>
        </p:nvSpPr>
        <p:spPr>
          <a:xfrm>
            <a:off x="3501022" y="3469754"/>
            <a:ext cx="4145400" cy="1531200"/>
          </a:xfrm>
          <a:prstGeom prst="rect">
            <a:avLst/>
          </a:prstGeom>
          <a:noFill/>
          <a:ln>
            <a:noFill/>
          </a:ln>
        </p:spPr>
        <p:txBody>
          <a:bodyPr spcFirstLastPara="1" wrap="square" lIns="91425" tIns="91425" rIns="91425" bIns="91425" anchor="t" anchorCtr="0">
            <a:noAutofit/>
          </a:bodyPr>
          <a:lstStyle/>
          <a:p>
            <a:pPr marL="457200" lvl="0" indent="-304800" algn="l" rtl="0">
              <a:lnSpc>
                <a:spcPct val="115000"/>
              </a:lnSpc>
              <a:spcBef>
                <a:spcPts val="300"/>
              </a:spcBef>
              <a:spcAft>
                <a:spcPts val="0"/>
              </a:spcAft>
              <a:buClr>
                <a:srgbClr val="1F1F1F"/>
              </a:buClr>
              <a:buSzPts val="1200"/>
              <a:buChar char="●"/>
            </a:pPr>
            <a:r>
              <a:rPr lang="en-US" sz="1200" b="1" dirty="0">
                <a:solidFill>
                  <a:srgbClr val="1F1F1F"/>
                </a:solidFill>
              </a:rPr>
              <a:t>p</a:t>
            </a:r>
            <a:r>
              <a:rPr lang="en" sz="1200" b="1" dirty="0">
                <a:solidFill>
                  <a:srgbClr val="1F1F1F"/>
                </a:solidFill>
              </a:rPr>
              <a:t>arental presence</a:t>
            </a:r>
            <a:endParaRPr sz="1200" dirty="0">
              <a:solidFill>
                <a:srgbClr val="1F1F1F"/>
              </a:solidFill>
            </a:endParaRPr>
          </a:p>
          <a:p>
            <a:pPr marL="457200" lvl="0" indent="-304800" algn="l" rtl="0">
              <a:lnSpc>
                <a:spcPct val="115000"/>
              </a:lnSpc>
              <a:spcBef>
                <a:spcPts val="0"/>
              </a:spcBef>
              <a:spcAft>
                <a:spcPts val="0"/>
              </a:spcAft>
              <a:buClr>
                <a:srgbClr val="1F1F1F"/>
              </a:buClr>
              <a:buSzPts val="1200"/>
              <a:buChar char="●"/>
            </a:pPr>
            <a:r>
              <a:rPr lang="en-US" sz="1200" b="1" dirty="0">
                <a:solidFill>
                  <a:srgbClr val="1F1F1F"/>
                </a:solidFill>
              </a:rPr>
              <a:t>g</a:t>
            </a:r>
            <a:r>
              <a:rPr lang="en" sz="1200" b="1" dirty="0">
                <a:solidFill>
                  <a:srgbClr val="1F1F1F"/>
                </a:solidFill>
              </a:rPr>
              <a:t>eographic factors</a:t>
            </a:r>
            <a:endParaRPr sz="1200" dirty="0">
              <a:solidFill>
                <a:srgbClr val="1F1F1F"/>
              </a:solidFill>
            </a:endParaRPr>
          </a:p>
          <a:p>
            <a:pPr marL="457200" lvl="0" indent="-304800" algn="l" rtl="0">
              <a:lnSpc>
                <a:spcPct val="115000"/>
              </a:lnSpc>
              <a:spcBef>
                <a:spcPts val="0"/>
              </a:spcBef>
              <a:spcAft>
                <a:spcPts val="0"/>
              </a:spcAft>
              <a:buClr>
                <a:srgbClr val="1F1F1F"/>
              </a:buClr>
              <a:buSzPts val="1200"/>
              <a:buChar char="●"/>
            </a:pPr>
            <a:r>
              <a:rPr lang="en-US" sz="1200" b="1" dirty="0">
                <a:solidFill>
                  <a:srgbClr val="1F1F1F"/>
                </a:solidFill>
              </a:rPr>
              <a:t>s</a:t>
            </a:r>
            <a:r>
              <a:rPr lang="en" sz="1200" b="1" dirty="0">
                <a:solidFill>
                  <a:srgbClr val="1F1F1F"/>
                </a:solidFill>
              </a:rPr>
              <a:t>chool grade</a:t>
            </a:r>
            <a:endParaRPr sz="1200" dirty="0">
              <a:solidFill>
                <a:srgbClr val="1F1F1F"/>
              </a:solidFill>
            </a:endParaRPr>
          </a:p>
        </p:txBody>
      </p:sp>
      <p:sp>
        <p:nvSpPr>
          <p:cNvPr id="3" name="TextBox 2">
            <a:extLst>
              <a:ext uri="{FF2B5EF4-FFF2-40B4-BE49-F238E27FC236}">
                <a16:creationId xmlns:a16="http://schemas.microsoft.com/office/drawing/2014/main" id="{65ED8C91-0506-BA02-58C9-78BC53D4E1A9}"/>
              </a:ext>
            </a:extLst>
          </p:cNvPr>
          <p:cNvSpPr txBox="1"/>
          <p:nvPr/>
        </p:nvSpPr>
        <p:spPr>
          <a:xfrm>
            <a:off x="554179" y="2126673"/>
            <a:ext cx="7266709" cy="1477328"/>
          </a:xfrm>
          <a:prstGeom prst="rect">
            <a:avLst/>
          </a:prstGeom>
          <a:noFill/>
        </p:spPr>
        <p:txBody>
          <a:bodyPr wrap="square" rtlCol="0">
            <a:spAutoFit/>
          </a:bodyPr>
          <a:lstStyle/>
          <a:p>
            <a:pPr marL="285750" indent="-285750">
              <a:buFont typeface="Arial" panose="020B0604020202020204" pitchFamily="34" charset="0"/>
              <a:buChar char="•"/>
            </a:pPr>
            <a:r>
              <a:rPr lang="en" sz="1800" b="1" dirty="0"/>
              <a:t>~10,000 observations and 79 variables</a:t>
            </a:r>
          </a:p>
          <a:p>
            <a:pPr marL="285750" indent="-285750">
              <a:buFont typeface="Arial" panose="020B0604020202020204" pitchFamily="34" charset="0"/>
              <a:buChar char="•"/>
            </a:pPr>
            <a:endParaRPr lang="en" sz="1800" b="1" dirty="0"/>
          </a:p>
          <a:p>
            <a:pPr marL="285750" indent="-285750">
              <a:buFont typeface="Arial" panose="020B0604020202020204" pitchFamily="34" charset="0"/>
              <a:buChar char="•"/>
            </a:pPr>
            <a:endParaRPr lang="en" sz="1800" b="1" dirty="0"/>
          </a:p>
          <a:p>
            <a:pPr marL="285750" indent="-285750">
              <a:buFont typeface="Arial" panose="020B0604020202020204" pitchFamily="34" charset="0"/>
              <a:buChar char="•"/>
            </a:pPr>
            <a:r>
              <a:rPr lang="en" sz="1800" b="1" dirty="0"/>
              <a:t>13 demographic variables:   </a:t>
            </a:r>
          </a:p>
          <a:p>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C2CF7-55BD-3CA3-DAD3-A8C18234AAB1}"/>
              </a:ext>
            </a:extLst>
          </p:cNvPr>
          <p:cNvSpPr>
            <a:spLocks noGrp="1"/>
          </p:cNvSpPr>
          <p:nvPr>
            <p:ph type="title"/>
          </p:nvPr>
        </p:nvSpPr>
        <p:spPr/>
        <p:txBody>
          <a:bodyPr/>
          <a:lstStyle/>
          <a:p>
            <a:pPr algn="ctr"/>
            <a:r>
              <a:rPr lang="en-US" b="1" dirty="0"/>
              <a:t>Data Cleaning</a:t>
            </a:r>
          </a:p>
        </p:txBody>
      </p:sp>
      <p:sp>
        <p:nvSpPr>
          <p:cNvPr id="3" name="TextBox 2">
            <a:extLst>
              <a:ext uri="{FF2B5EF4-FFF2-40B4-BE49-F238E27FC236}">
                <a16:creationId xmlns:a16="http://schemas.microsoft.com/office/drawing/2014/main" id="{6368600F-CEB8-791A-56FC-79B1176C321D}"/>
              </a:ext>
            </a:extLst>
          </p:cNvPr>
          <p:cNvSpPr txBox="1"/>
          <p:nvPr/>
        </p:nvSpPr>
        <p:spPr>
          <a:xfrm>
            <a:off x="568036" y="1849582"/>
            <a:ext cx="3006437" cy="1114408"/>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US" sz="1800" dirty="0"/>
              <a:t>Data conversion </a:t>
            </a:r>
          </a:p>
          <a:p>
            <a:pPr marL="285750" indent="-285750">
              <a:lnSpc>
                <a:spcPct val="200000"/>
              </a:lnSpc>
              <a:buFont typeface="Arial" panose="020B0604020202020204" pitchFamily="34" charset="0"/>
              <a:buChar char="•"/>
            </a:pPr>
            <a:r>
              <a:rPr lang="en-US" sz="1800" dirty="0"/>
              <a:t>Missing values </a:t>
            </a:r>
          </a:p>
        </p:txBody>
      </p:sp>
      <p:pic>
        <p:nvPicPr>
          <p:cNvPr id="5" name="Picture 4">
            <a:extLst>
              <a:ext uri="{FF2B5EF4-FFF2-40B4-BE49-F238E27FC236}">
                <a16:creationId xmlns:a16="http://schemas.microsoft.com/office/drawing/2014/main" id="{72BA1FB7-B6DB-649C-37AA-5A5BCD88F2D4}"/>
              </a:ext>
            </a:extLst>
          </p:cNvPr>
          <p:cNvPicPr>
            <a:picLocks noChangeAspect="1"/>
          </p:cNvPicPr>
          <p:nvPr/>
        </p:nvPicPr>
        <p:blipFill>
          <a:blip r:embed="rId2"/>
          <a:stretch>
            <a:fillRect/>
          </a:stretch>
        </p:blipFill>
        <p:spPr>
          <a:xfrm>
            <a:off x="3078596" y="1302328"/>
            <a:ext cx="6065404" cy="2933056"/>
          </a:xfrm>
          <a:prstGeom prst="rect">
            <a:avLst/>
          </a:prstGeom>
        </p:spPr>
      </p:pic>
    </p:spTree>
    <p:extLst>
      <p:ext uri="{BB962C8B-B14F-4D97-AF65-F5344CB8AC3E}">
        <p14:creationId xmlns:p14="http://schemas.microsoft.com/office/powerpoint/2010/main" val="41827099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18" descr="Background pointer shape in timeline graphic"/>
          <p:cNvSpPr/>
          <p:nvPr/>
        </p:nvSpPr>
        <p:spPr>
          <a:xfrm>
            <a:off x="333533" y="2578425"/>
            <a:ext cx="3146507" cy="745500"/>
          </a:xfrm>
          <a:prstGeom prst="homePlate">
            <a:avLst>
              <a:gd name="adj" fmla="val 50000"/>
            </a:avLst>
          </a:prstGeom>
          <a:solidFill>
            <a:schemeClr val="dk1"/>
          </a:solidFill>
          <a:ln w="9525" cap="flat" cmpd="sng">
            <a:solidFill>
              <a:schemeClr val="lt1"/>
            </a:solidFill>
            <a:prstDash val="solid"/>
            <a:round/>
            <a:headEnd type="none" w="sm" len="sm"/>
            <a:tailEnd type="none" w="sm" len="sm"/>
          </a:ln>
        </p:spPr>
        <p:txBody>
          <a:bodyPr spcFirstLastPara="1" wrap="square" lIns="121875" tIns="121875" rIns="121875" bIns="121875" anchor="ctr" anchorCtr="0">
            <a:noAutofit/>
          </a:bodyPr>
          <a:lstStyle/>
          <a:p>
            <a:pPr marL="0" lvl="0" indent="0" algn="l" rtl="0">
              <a:spcBef>
                <a:spcPts val="0"/>
              </a:spcBef>
              <a:spcAft>
                <a:spcPts val="0"/>
              </a:spcAft>
              <a:buNone/>
            </a:pPr>
            <a:endParaRPr sz="1300"/>
          </a:p>
        </p:txBody>
      </p:sp>
      <p:sp>
        <p:nvSpPr>
          <p:cNvPr id="135" name="Google Shape;135;p18"/>
          <p:cNvSpPr txBox="1">
            <a:spLocks noGrp="1"/>
          </p:cNvSpPr>
          <p:nvPr>
            <p:ph type="body" idx="4294967295"/>
          </p:nvPr>
        </p:nvSpPr>
        <p:spPr>
          <a:xfrm>
            <a:off x="378576" y="2715306"/>
            <a:ext cx="1564387" cy="470400"/>
          </a:xfrm>
          <a:prstGeom prst="rect">
            <a:avLst/>
          </a:prstGeom>
        </p:spPr>
        <p:txBody>
          <a:bodyPr spcFirstLastPara="1" wrap="square" lIns="91425" tIns="91425" rIns="91425" bIns="91425" anchor="b" anchorCtr="0">
            <a:noAutofit/>
          </a:bodyPr>
          <a:lstStyle/>
          <a:p>
            <a:pPr marL="0" lvl="0" indent="0" algn="ctr" rtl="0">
              <a:lnSpc>
                <a:spcPct val="100000"/>
              </a:lnSpc>
              <a:spcBef>
                <a:spcPts val="0"/>
              </a:spcBef>
              <a:spcAft>
                <a:spcPts val="0"/>
              </a:spcAft>
              <a:buNone/>
            </a:pPr>
            <a:endParaRPr sz="1500" b="1" dirty="0">
              <a:solidFill>
                <a:schemeClr val="lt1"/>
              </a:solidFill>
            </a:endParaRPr>
          </a:p>
          <a:p>
            <a:pPr marL="0" lvl="0" indent="0" algn="ctr" rtl="0">
              <a:lnSpc>
                <a:spcPct val="100000"/>
              </a:lnSpc>
              <a:spcBef>
                <a:spcPts val="0"/>
              </a:spcBef>
              <a:spcAft>
                <a:spcPts val="0"/>
              </a:spcAft>
              <a:buNone/>
            </a:pPr>
            <a:r>
              <a:rPr lang="en" sz="1500" b="1" dirty="0">
                <a:solidFill>
                  <a:schemeClr val="lt1"/>
                </a:solidFill>
              </a:rPr>
              <a:t>Decision tree</a:t>
            </a:r>
            <a:endParaRPr sz="1500" b="1" dirty="0">
              <a:solidFill>
                <a:schemeClr val="lt1"/>
              </a:solidFill>
            </a:endParaRPr>
          </a:p>
        </p:txBody>
      </p:sp>
      <p:grpSp>
        <p:nvGrpSpPr>
          <p:cNvPr id="136" name="Google Shape;136;p18"/>
          <p:cNvGrpSpPr/>
          <p:nvPr/>
        </p:nvGrpSpPr>
        <p:grpSpPr>
          <a:xfrm>
            <a:off x="961870" y="1989640"/>
            <a:ext cx="198900" cy="593656"/>
            <a:chOff x="777447" y="1610215"/>
            <a:chExt cx="198900" cy="593656"/>
          </a:xfrm>
        </p:grpSpPr>
        <p:cxnSp>
          <p:nvCxnSpPr>
            <p:cNvPr id="137" name="Google Shape;137;p18"/>
            <p:cNvCxnSpPr/>
            <p:nvPr/>
          </p:nvCxnSpPr>
          <p:spPr>
            <a:xfrm>
              <a:off x="876909" y="1649171"/>
              <a:ext cx="0" cy="554700"/>
            </a:xfrm>
            <a:prstGeom prst="straightConnector1">
              <a:avLst/>
            </a:prstGeom>
            <a:noFill/>
            <a:ln w="9525" cap="flat" cmpd="sng">
              <a:solidFill>
                <a:schemeClr val="dk2"/>
              </a:solidFill>
              <a:prstDash val="solid"/>
              <a:round/>
              <a:headEnd type="none" w="sm" len="sm"/>
              <a:tailEnd type="none" w="sm" len="sm"/>
            </a:ln>
          </p:spPr>
        </p:cxnSp>
        <p:sp>
          <p:nvSpPr>
            <p:cNvPr id="138" name="Google Shape;138;p18"/>
            <p:cNvSpPr/>
            <p:nvPr/>
          </p:nvSpPr>
          <p:spPr>
            <a:xfrm>
              <a:off x="777447" y="1610215"/>
              <a:ext cx="198900" cy="198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9" name="Google Shape;139;p18"/>
          <p:cNvSpPr txBox="1">
            <a:spLocks noGrp="1"/>
          </p:cNvSpPr>
          <p:nvPr>
            <p:ph type="body" idx="4294967295"/>
          </p:nvPr>
        </p:nvSpPr>
        <p:spPr>
          <a:xfrm>
            <a:off x="307985" y="1312063"/>
            <a:ext cx="2864400" cy="9063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sz="1100" dirty="0"/>
              <a:t>Acts as the baseline </a:t>
            </a:r>
          </a:p>
          <a:p>
            <a:pPr marL="457200" lvl="0" indent="-298450" algn="l" rtl="0">
              <a:spcBef>
                <a:spcPts val="0"/>
              </a:spcBef>
              <a:spcAft>
                <a:spcPts val="0"/>
              </a:spcAft>
              <a:buSzPts val="1100"/>
              <a:buChar char="●"/>
            </a:pPr>
            <a:r>
              <a:rPr lang="en" sz="1100" dirty="0"/>
              <a:t>Greedy Approach</a:t>
            </a:r>
            <a:endParaRPr sz="1100" dirty="0"/>
          </a:p>
          <a:p>
            <a:pPr marL="0" lvl="0" indent="0" algn="l" rtl="0">
              <a:spcBef>
                <a:spcPts val="1600"/>
              </a:spcBef>
              <a:spcAft>
                <a:spcPts val="1600"/>
              </a:spcAft>
              <a:buNone/>
            </a:pPr>
            <a:endParaRPr sz="1400" dirty="0"/>
          </a:p>
        </p:txBody>
      </p:sp>
      <p:sp>
        <p:nvSpPr>
          <p:cNvPr id="140" name="Google Shape;140;p18" descr="Background pointer shape in timeline graphic"/>
          <p:cNvSpPr/>
          <p:nvPr/>
        </p:nvSpPr>
        <p:spPr>
          <a:xfrm>
            <a:off x="1809653" y="2578425"/>
            <a:ext cx="3446991" cy="745500"/>
          </a:xfrm>
          <a:prstGeom prst="chevron">
            <a:avLst>
              <a:gd name="adj" fmla="val 50000"/>
            </a:avLst>
          </a:prstGeom>
          <a:solidFill>
            <a:schemeClr val="dk1"/>
          </a:solidFill>
          <a:ln w="9525" cap="flat" cmpd="sng">
            <a:solidFill>
              <a:schemeClr val="lt1"/>
            </a:solidFill>
            <a:prstDash val="solid"/>
            <a:round/>
            <a:headEnd type="none" w="sm" len="sm"/>
            <a:tailEnd type="none" w="sm" len="sm"/>
          </a:ln>
        </p:spPr>
        <p:txBody>
          <a:bodyPr spcFirstLastPara="1" wrap="square" lIns="121875" tIns="121875" rIns="121875" bIns="121875" anchor="ctr" anchorCtr="0">
            <a:noAutofit/>
          </a:bodyPr>
          <a:lstStyle/>
          <a:p>
            <a:pPr marL="0" lvl="0" indent="0" algn="l" rtl="0">
              <a:spcBef>
                <a:spcPts val="0"/>
              </a:spcBef>
              <a:spcAft>
                <a:spcPts val="0"/>
              </a:spcAft>
              <a:buNone/>
            </a:pPr>
            <a:endParaRPr sz="1300"/>
          </a:p>
        </p:txBody>
      </p:sp>
      <p:sp>
        <p:nvSpPr>
          <p:cNvPr id="141" name="Google Shape;141;p18"/>
          <p:cNvSpPr txBox="1">
            <a:spLocks noGrp="1"/>
          </p:cNvSpPr>
          <p:nvPr>
            <p:ph type="body" idx="4294967295"/>
          </p:nvPr>
        </p:nvSpPr>
        <p:spPr>
          <a:xfrm>
            <a:off x="2066999" y="2744221"/>
            <a:ext cx="2210773" cy="470400"/>
          </a:xfrm>
          <a:prstGeom prst="rect">
            <a:avLst/>
          </a:prstGeom>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 sz="1500" b="1" dirty="0">
                <a:solidFill>
                  <a:schemeClr val="lt1"/>
                </a:solidFill>
              </a:rPr>
              <a:t>Pruned Decision tree</a:t>
            </a:r>
            <a:endParaRPr sz="1500" b="1" dirty="0">
              <a:solidFill>
                <a:schemeClr val="lt1"/>
              </a:solidFill>
            </a:endParaRPr>
          </a:p>
        </p:txBody>
      </p:sp>
      <p:grpSp>
        <p:nvGrpSpPr>
          <p:cNvPr id="142" name="Google Shape;142;p18"/>
          <p:cNvGrpSpPr/>
          <p:nvPr/>
        </p:nvGrpSpPr>
        <p:grpSpPr>
          <a:xfrm>
            <a:off x="2677232" y="3318383"/>
            <a:ext cx="198900" cy="593656"/>
            <a:chOff x="2223534" y="2938958"/>
            <a:chExt cx="198900" cy="593656"/>
          </a:xfrm>
        </p:grpSpPr>
        <p:cxnSp>
          <p:nvCxnSpPr>
            <p:cNvPr id="143" name="Google Shape;143;p18"/>
            <p:cNvCxnSpPr/>
            <p:nvPr/>
          </p:nvCxnSpPr>
          <p:spPr>
            <a:xfrm rot="10800000">
              <a:off x="2322997" y="2938958"/>
              <a:ext cx="0" cy="554700"/>
            </a:xfrm>
            <a:prstGeom prst="straightConnector1">
              <a:avLst/>
            </a:prstGeom>
            <a:noFill/>
            <a:ln w="9525" cap="flat" cmpd="sng">
              <a:solidFill>
                <a:schemeClr val="dk2"/>
              </a:solidFill>
              <a:prstDash val="solid"/>
              <a:round/>
              <a:headEnd type="none" w="sm" len="sm"/>
              <a:tailEnd type="none" w="sm" len="sm"/>
            </a:ln>
          </p:spPr>
        </p:cxnSp>
        <p:sp>
          <p:nvSpPr>
            <p:cNvPr id="144" name="Google Shape;144;p18"/>
            <p:cNvSpPr/>
            <p:nvPr/>
          </p:nvSpPr>
          <p:spPr>
            <a:xfrm rot="10800000" flipH="1">
              <a:off x="2223534" y="3333714"/>
              <a:ext cx="198900" cy="198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5" name="Google Shape;145;p18"/>
          <p:cNvSpPr txBox="1">
            <a:spLocks noGrp="1"/>
          </p:cNvSpPr>
          <p:nvPr>
            <p:ph type="body" idx="4294967295"/>
          </p:nvPr>
        </p:nvSpPr>
        <p:spPr>
          <a:xfrm>
            <a:off x="1410625" y="4044050"/>
            <a:ext cx="2979300" cy="9063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US" sz="1100" dirty="0"/>
              <a:t>Using cross validation </a:t>
            </a:r>
            <a:endParaRPr sz="1100" dirty="0"/>
          </a:p>
          <a:p>
            <a:pPr marL="0" lvl="0" indent="0" algn="ctr" rtl="0">
              <a:spcBef>
                <a:spcPts val="1600"/>
              </a:spcBef>
              <a:spcAft>
                <a:spcPts val="1600"/>
              </a:spcAft>
              <a:buNone/>
            </a:pPr>
            <a:endParaRPr sz="1400" dirty="0"/>
          </a:p>
        </p:txBody>
      </p:sp>
      <p:sp>
        <p:nvSpPr>
          <p:cNvPr id="146" name="Google Shape;146;p18" descr="Background pointer shape in timeline graphic"/>
          <p:cNvSpPr/>
          <p:nvPr/>
        </p:nvSpPr>
        <p:spPr>
          <a:xfrm>
            <a:off x="3927703" y="2578425"/>
            <a:ext cx="2983860" cy="745500"/>
          </a:xfrm>
          <a:prstGeom prst="chevron">
            <a:avLst>
              <a:gd name="adj" fmla="val 50000"/>
            </a:avLst>
          </a:prstGeom>
          <a:solidFill>
            <a:schemeClr val="dk1"/>
          </a:solidFill>
          <a:ln w="9525" cap="flat" cmpd="sng">
            <a:solidFill>
              <a:schemeClr val="lt1"/>
            </a:solidFill>
            <a:prstDash val="solid"/>
            <a:round/>
            <a:headEnd type="none" w="sm" len="sm"/>
            <a:tailEnd type="none" w="sm" len="sm"/>
          </a:ln>
        </p:spPr>
        <p:txBody>
          <a:bodyPr spcFirstLastPara="1" wrap="square" lIns="121875" tIns="121875" rIns="121875" bIns="121875" anchor="ctr" anchorCtr="0">
            <a:noAutofit/>
          </a:bodyPr>
          <a:lstStyle/>
          <a:p>
            <a:pPr marL="0" lvl="0" indent="0" algn="l" rtl="0">
              <a:spcBef>
                <a:spcPts val="0"/>
              </a:spcBef>
              <a:spcAft>
                <a:spcPts val="0"/>
              </a:spcAft>
              <a:buNone/>
            </a:pPr>
            <a:endParaRPr sz="1300"/>
          </a:p>
        </p:txBody>
      </p:sp>
      <p:sp>
        <p:nvSpPr>
          <p:cNvPr id="147" name="Google Shape;147;p18"/>
          <p:cNvSpPr txBox="1">
            <a:spLocks noGrp="1"/>
          </p:cNvSpPr>
          <p:nvPr>
            <p:ph type="body" idx="4294967295"/>
          </p:nvPr>
        </p:nvSpPr>
        <p:spPr>
          <a:xfrm>
            <a:off x="3832379" y="2715975"/>
            <a:ext cx="2210773" cy="470400"/>
          </a:xfrm>
          <a:prstGeom prst="rect">
            <a:avLst/>
          </a:prstGeom>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 sz="1500" b="1" dirty="0">
                <a:solidFill>
                  <a:schemeClr val="lt1"/>
                </a:solidFill>
              </a:rPr>
              <a:t>Bagging</a:t>
            </a:r>
            <a:endParaRPr sz="1500" b="1" dirty="0">
              <a:solidFill>
                <a:schemeClr val="lt1"/>
              </a:solidFill>
            </a:endParaRPr>
          </a:p>
        </p:txBody>
      </p:sp>
      <p:grpSp>
        <p:nvGrpSpPr>
          <p:cNvPr id="148" name="Google Shape;148;p18"/>
          <p:cNvGrpSpPr/>
          <p:nvPr/>
        </p:nvGrpSpPr>
        <p:grpSpPr>
          <a:xfrm>
            <a:off x="4666793" y="1998869"/>
            <a:ext cx="198900" cy="593656"/>
            <a:chOff x="3918084" y="1610215"/>
            <a:chExt cx="198900" cy="593656"/>
          </a:xfrm>
        </p:grpSpPr>
        <p:cxnSp>
          <p:nvCxnSpPr>
            <p:cNvPr id="149" name="Google Shape;149;p18"/>
            <p:cNvCxnSpPr/>
            <p:nvPr/>
          </p:nvCxnSpPr>
          <p:spPr>
            <a:xfrm>
              <a:off x="4017546" y="1649171"/>
              <a:ext cx="0" cy="554700"/>
            </a:xfrm>
            <a:prstGeom prst="straightConnector1">
              <a:avLst/>
            </a:prstGeom>
            <a:noFill/>
            <a:ln w="9525" cap="flat" cmpd="sng">
              <a:solidFill>
                <a:schemeClr val="dk2"/>
              </a:solidFill>
              <a:prstDash val="solid"/>
              <a:round/>
              <a:headEnd type="none" w="sm" len="sm"/>
              <a:tailEnd type="none" w="sm" len="sm"/>
            </a:ln>
          </p:spPr>
        </p:cxnSp>
        <p:sp>
          <p:nvSpPr>
            <p:cNvPr id="150" name="Google Shape;150;p18"/>
            <p:cNvSpPr/>
            <p:nvPr/>
          </p:nvSpPr>
          <p:spPr>
            <a:xfrm>
              <a:off x="3918084" y="1610215"/>
              <a:ext cx="198900" cy="198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1" name="Google Shape;151;p18"/>
          <p:cNvSpPr txBox="1">
            <a:spLocks noGrp="1"/>
          </p:cNvSpPr>
          <p:nvPr>
            <p:ph type="body" idx="4294967295"/>
          </p:nvPr>
        </p:nvSpPr>
        <p:spPr>
          <a:xfrm>
            <a:off x="3351763" y="1370648"/>
            <a:ext cx="3559800" cy="9063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US" sz="1100" dirty="0"/>
              <a:t>Similar to Decision Tree but limits predictors</a:t>
            </a:r>
            <a:endParaRPr sz="1100" dirty="0"/>
          </a:p>
          <a:p>
            <a:pPr marL="0" lvl="0" indent="0" algn="ctr" rtl="0">
              <a:spcBef>
                <a:spcPts val="1600"/>
              </a:spcBef>
              <a:spcAft>
                <a:spcPts val="1600"/>
              </a:spcAft>
              <a:buNone/>
            </a:pPr>
            <a:endParaRPr sz="1400" dirty="0"/>
          </a:p>
        </p:txBody>
      </p:sp>
      <p:sp>
        <p:nvSpPr>
          <p:cNvPr id="152" name="Google Shape;152;p18" descr="Background pointer shape in timeline graphic"/>
          <p:cNvSpPr/>
          <p:nvPr/>
        </p:nvSpPr>
        <p:spPr>
          <a:xfrm>
            <a:off x="5608983" y="2578425"/>
            <a:ext cx="2957500" cy="745500"/>
          </a:xfrm>
          <a:prstGeom prst="chevron">
            <a:avLst>
              <a:gd name="adj" fmla="val 50000"/>
            </a:avLst>
          </a:prstGeom>
          <a:solidFill>
            <a:schemeClr val="dk1"/>
          </a:solidFill>
          <a:ln w="9525" cap="flat" cmpd="sng">
            <a:solidFill>
              <a:schemeClr val="lt1"/>
            </a:solidFill>
            <a:prstDash val="solid"/>
            <a:round/>
            <a:headEnd type="none" w="sm" len="sm"/>
            <a:tailEnd type="none" w="sm" len="sm"/>
          </a:ln>
        </p:spPr>
        <p:txBody>
          <a:bodyPr spcFirstLastPara="1" wrap="square" lIns="121875" tIns="121875" rIns="121875" bIns="121875" anchor="ctr" anchorCtr="0">
            <a:noAutofit/>
          </a:bodyPr>
          <a:lstStyle/>
          <a:p>
            <a:pPr marL="0" lvl="0" indent="0" algn="l" rtl="0">
              <a:spcBef>
                <a:spcPts val="0"/>
              </a:spcBef>
              <a:spcAft>
                <a:spcPts val="0"/>
              </a:spcAft>
              <a:buNone/>
            </a:pPr>
            <a:endParaRPr sz="1300"/>
          </a:p>
        </p:txBody>
      </p:sp>
      <p:sp>
        <p:nvSpPr>
          <p:cNvPr id="153" name="Google Shape;153;p18"/>
          <p:cNvSpPr txBox="1">
            <a:spLocks noGrp="1"/>
          </p:cNvSpPr>
          <p:nvPr>
            <p:ph type="body" idx="4294967295"/>
          </p:nvPr>
        </p:nvSpPr>
        <p:spPr>
          <a:xfrm>
            <a:off x="6043152" y="2711439"/>
            <a:ext cx="2210773" cy="470400"/>
          </a:xfrm>
          <a:prstGeom prst="rect">
            <a:avLst/>
          </a:prstGeom>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 sz="1500" b="1" dirty="0">
                <a:solidFill>
                  <a:schemeClr val="lt1"/>
                </a:solidFill>
              </a:rPr>
              <a:t>Random Forest</a:t>
            </a:r>
            <a:endParaRPr sz="1500" b="1" dirty="0">
              <a:solidFill>
                <a:schemeClr val="lt1"/>
              </a:solidFill>
            </a:endParaRPr>
          </a:p>
        </p:txBody>
      </p:sp>
      <p:grpSp>
        <p:nvGrpSpPr>
          <p:cNvPr id="154" name="Google Shape;154;p18"/>
          <p:cNvGrpSpPr/>
          <p:nvPr/>
        </p:nvGrpSpPr>
        <p:grpSpPr>
          <a:xfrm>
            <a:off x="5965670" y="3318383"/>
            <a:ext cx="198900" cy="593656"/>
            <a:chOff x="5958946" y="2938958"/>
            <a:chExt cx="198900" cy="593656"/>
          </a:xfrm>
        </p:grpSpPr>
        <p:cxnSp>
          <p:nvCxnSpPr>
            <p:cNvPr id="155" name="Google Shape;155;p18"/>
            <p:cNvCxnSpPr/>
            <p:nvPr/>
          </p:nvCxnSpPr>
          <p:spPr>
            <a:xfrm rot="10800000">
              <a:off x="6058409" y="2938958"/>
              <a:ext cx="0" cy="554700"/>
            </a:xfrm>
            <a:prstGeom prst="straightConnector1">
              <a:avLst/>
            </a:prstGeom>
            <a:noFill/>
            <a:ln w="9525" cap="flat" cmpd="sng">
              <a:solidFill>
                <a:schemeClr val="dk2"/>
              </a:solidFill>
              <a:prstDash val="solid"/>
              <a:round/>
              <a:headEnd type="none" w="sm" len="sm"/>
              <a:tailEnd type="none" w="sm" len="sm"/>
            </a:ln>
          </p:spPr>
        </p:cxnSp>
        <p:sp>
          <p:nvSpPr>
            <p:cNvPr id="156" name="Google Shape;156;p18"/>
            <p:cNvSpPr/>
            <p:nvPr/>
          </p:nvSpPr>
          <p:spPr>
            <a:xfrm rot="10800000" flipH="1">
              <a:off x="5958946" y="3333714"/>
              <a:ext cx="198900" cy="198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7" name="Google Shape;157;p18"/>
          <p:cNvSpPr txBox="1">
            <a:spLocks noGrp="1"/>
          </p:cNvSpPr>
          <p:nvPr>
            <p:ph type="body" idx="4294967295"/>
          </p:nvPr>
        </p:nvSpPr>
        <p:spPr>
          <a:xfrm>
            <a:off x="4511050" y="4044050"/>
            <a:ext cx="3559800" cy="9063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US" sz="1100" dirty="0"/>
              <a:t>Similar to bagging but utilizes a subset of predictors</a:t>
            </a:r>
            <a:endParaRPr sz="1100" dirty="0"/>
          </a:p>
          <a:p>
            <a:pPr marL="0" lvl="0" indent="0" algn="ctr" rtl="0">
              <a:spcBef>
                <a:spcPts val="1600"/>
              </a:spcBef>
              <a:spcAft>
                <a:spcPts val="0"/>
              </a:spcAft>
              <a:buNone/>
            </a:pPr>
            <a:endParaRPr sz="1400" dirty="0"/>
          </a:p>
          <a:p>
            <a:pPr marL="0" lvl="0" indent="0" algn="ctr" rtl="0">
              <a:spcBef>
                <a:spcPts val="1600"/>
              </a:spcBef>
              <a:spcAft>
                <a:spcPts val="1600"/>
              </a:spcAft>
              <a:buNone/>
            </a:pPr>
            <a:endParaRPr sz="1400" dirty="0"/>
          </a:p>
        </p:txBody>
      </p:sp>
      <p:sp>
        <p:nvSpPr>
          <p:cNvPr id="164" name="Google Shape;164;p18"/>
          <p:cNvSpPr txBox="1">
            <a:spLocks noGrp="1"/>
          </p:cNvSpPr>
          <p:nvPr>
            <p:ph type="title" idx="4294967295"/>
          </p:nvPr>
        </p:nvSpPr>
        <p:spPr>
          <a:xfrm>
            <a:off x="2238672" y="369632"/>
            <a:ext cx="4078200" cy="59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Modeling Approach</a:t>
            </a:r>
            <a:endParaRPr b="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71" name="Google Shape;171;p19"/>
          <p:cNvSpPr txBox="1">
            <a:spLocks noGrp="1"/>
          </p:cNvSpPr>
          <p:nvPr>
            <p:ph type="title"/>
          </p:nvPr>
        </p:nvSpPr>
        <p:spPr>
          <a:xfrm>
            <a:off x="2529233" y="486374"/>
            <a:ext cx="4078200" cy="593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3000" b="1" dirty="0"/>
              <a:t>Decision Tree Plot</a:t>
            </a:r>
            <a:endParaRPr sz="3000" b="1" dirty="0"/>
          </a:p>
        </p:txBody>
      </p:sp>
      <p:grpSp>
        <p:nvGrpSpPr>
          <p:cNvPr id="52" name="Group 51">
            <a:extLst>
              <a:ext uri="{FF2B5EF4-FFF2-40B4-BE49-F238E27FC236}">
                <a16:creationId xmlns:a16="http://schemas.microsoft.com/office/drawing/2014/main" id="{4E12AE56-E74B-BE61-AAA7-E85F2F74F6A1}"/>
              </a:ext>
            </a:extLst>
          </p:cNvPr>
          <p:cNvGrpSpPr/>
          <p:nvPr/>
        </p:nvGrpSpPr>
        <p:grpSpPr>
          <a:xfrm>
            <a:off x="1944213" y="1433944"/>
            <a:ext cx="4802950" cy="3266156"/>
            <a:chOff x="1955707" y="1379859"/>
            <a:chExt cx="3744631" cy="2984737"/>
          </a:xfrm>
        </p:grpSpPr>
        <mc:AlternateContent xmlns:mc="http://schemas.openxmlformats.org/markup-compatibility/2006">
          <mc:Choice xmlns:p14="http://schemas.microsoft.com/office/powerpoint/2010/main" Requires="p14">
            <p:contentPart p14:bwMode="auto" r:id="rId3">
              <p14:nvContentPartPr>
                <p14:cNvPr id="38" name="Ink 37">
                  <a:extLst>
                    <a:ext uri="{FF2B5EF4-FFF2-40B4-BE49-F238E27FC236}">
                      <a16:creationId xmlns:a16="http://schemas.microsoft.com/office/drawing/2014/main" id="{37DC4A19-4469-4FD4-D0EA-6FA4D9F5456E}"/>
                    </a:ext>
                  </a:extLst>
                </p14:cNvPr>
                <p14:cNvContentPartPr/>
                <p14:nvPr/>
              </p14:nvContentPartPr>
              <p14:xfrm>
                <a:off x="3305977" y="1687636"/>
                <a:ext cx="2325895" cy="1368000"/>
              </p14:xfrm>
            </p:contentPart>
          </mc:Choice>
          <mc:Fallback>
            <p:pic>
              <p:nvPicPr>
                <p:cNvPr id="38" name="Ink 37">
                  <a:extLst>
                    <a:ext uri="{FF2B5EF4-FFF2-40B4-BE49-F238E27FC236}">
                      <a16:creationId xmlns:a16="http://schemas.microsoft.com/office/drawing/2014/main" id="{37DC4A19-4469-4FD4-D0EA-6FA4D9F5456E}"/>
                    </a:ext>
                  </a:extLst>
                </p:cNvPr>
                <p:cNvPicPr/>
                <p:nvPr/>
              </p:nvPicPr>
              <p:blipFill>
                <a:blip r:embed="rId4"/>
                <a:stretch>
                  <a:fillRect/>
                </a:stretch>
              </p:blipFill>
              <p:spPr>
                <a:xfrm>
                  <a:off x="3301206" y="1682043"/>
                  <a:ext cx="2335438" cy="1379186"/>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43" name="Ink 42">
                  <a:extLst>
                    <a:ext uri="{FF2B5EF4-FFF2-40B4-BE49-F238E27FC236}">
                      <a16:creationId xmlns:a16="http://schemas.microsoft.com/office/drawing/2014/main" id="{B8194B26-0FF7-0BE5-677C-EFAA5FA67CE5}"/>
                    </a:ext>
                  </a:extLst>
                </p14:cNvPr>
                <p14:cNvContentPartPr/>
                <p14:nvPr/>
              </p14:nvContentPartPr>
              <p14:xfrm>
                <a:off x="2313151" y="2909893"/>
                <a:ext cx="2104094" cy="872886"/>
              </p14:xfrm>
            </p:contentPart>
          </mc:Choice>
          <mc:Fallback>
            <p:pic>
              <p:nvPicPr>
                <p:cNvPr id="43" name="Ink 42">
                  <a:extLst>
                    <a:ext uri="{FF2B5EF4-FFF2-40B4-BE49-F238E27FC236}">
                      <a16:creationId xmlns:a16="http://schemas.microsoft.com/office/drawing/2014/main" id="{B8194B26-0FF7-0BE5-677C-EFAA5FA67CE5}"/>
                    </a:ext>
                  </a:extLst>
                </p:cNvPr>
                <p:cNvPicPr/>
                <p:nvPr/>
              </p:nvPicPr>
              <p:blipFill>
                <a:blip r:embed="rId6"/>
                <a:stretch>
                  <a:fillRect/>
                </a:stretch>
              </p:blipFill>
              <p:spPr>
                <a:xfrm>
                  <a:off x="2308379" y="2904300"/>
                  <a:ext cx="2113638" cy="884073"/>
                </a:xfrm>
                <a:prstGeom prst="rect">
                  <a:avLst/>
                </a:prstGeom>
              </p:spPr>
            </p:pic>
          </mc:Fallback>
        </mc:AlternateContent>
        <p:sp>
          <p:nvSpPr>
            <p:cNvPr id="40" name="TextBox 39">
              <a:extLst>
                <a:ext uri="{FF2B5EF4-FFF2-40B4-BE49-F238E27FC236}">
                  <a16:creationId xmlns:a16="http://schemas.microsoft.com/office/drawing/2014/main" id="{EAE68125-90CC-9237-31F8-8A3901427B0B}"/>
                </a:ext>
              </a:extLst>
            </p:cNvPr>
            <p:cNvSpPr txBox="1"/>
            <p:nvPr/>
          </p:nvSpPr>
          <p:spPr>
            <a:xfrm>
              <a:off x="3430349" y="1379859"/>
              <a:ext cx="2045901" cy="307777"/>
            </a:xfrm>
            <a:prstGeom prst="rect">
              <a:avLst/>
            </a:prstGeom>
            <a:noFill/>
          </p:spPr>
          <p:txBody>
            <a:bodyPr wrap="square" rtlCol="0">
              <a:spAutoFit/>
            </a:bodyPr>
            <a:lstStyle/>
            <a:p>
              <a:r>
                <a:rPr lang="en-US" b="1" dirty="0"/>
                <a:t>Grade_level: 1,2,3,4,5</a:t>
              </a:r>
            </a:p>
          </p:txBody>
        </p:sp>
        <p:sp>
          <p:nvSpPr>
            <p:cNvPr id="42" name="TextBox 41">
              <a:extLst>
                <a:ext uri="{FF2B5EF4-FFF2-40B4-BE49-F238E27FC236}">
                  <a16:creationId xmlns:a16="http://schemas.microsoft.com/office/drawing/2014/main" id="{2D7C2853-071C-CF79-5982-78C3F110956D}"/>
                </a:ext>
              </a:extLst>
            </p:cNvPr>
            <p:cNvSpPr txBox="1"/>
            <p:nvPr/>
          </p:nvSpPr>
          <p:spPr>
            <a:xfrm>
              <a:off x="1955707" y="2602116"/>
              <a:ext cx="2045901" cy="307777"/>
            </a:xfrm>
            <a:prstGeom prst="rect">
              <a:avLst/>
            </a:prstGeom>
            <a:noFill/>
          </p:spPr>
          <p:txBody>
            <a:bodyPr wrap="square" rtlCol="0">
              <a:spAutoFit/>
            </a:bodyPr>
            <a:lstStyle/>
            <a:p>
              <a:r>
                <a:rPr lang="en-US" b="1" dirty="0"/>
                <a:t>Grade_level: 1,2,3</a:t>
              </a:r>
            </a:p>
          </p:txBody>
        </p:sp>
        <mc:AlternateContent xmlns:mc="http://schemas.openxmlformats.org/markup-compatibility/2006">
          <mc:Choice xmlns:p14="http://schemas.microsoft.com/office/powerpoint/2010/main" Requires="p14">
            <p:contentPart p14:bwMode="auto" r:id="rId7">
              <p14:nvContentPartPr>
                <p14:cNvPr id="44" name="Ink 43">
                  <a:extLst>
                    <a:ext uri="{FF2B5EF4-FFF2-40B4-BE49-F238E27FC236}">
                      <a16:creationId xmlns:a16="http://schemas.microsoft.com/office/drawing/2014/main" id="{CACA69C8-0BAE-8896-525B-00915D7276B1}"/>
                    </a:ext>
                  </a:extLst>
                </p14:cNvPr>
                <p14:cNvContentPartPr/>
                <p14:nvPr/>
              </p14:nvContentPartPr>
              <p14:xfrm>
                <a:off x="2247218" y="3876076"/>
                <a:ext cx="131760" cy="149040"/>
              </p14:xfrm>
            </p:contentPart>
          </mc:Choice>
          <mc:Fallback>
            <p:pic>
              <p:nvPicPr>
                <p:cNvPr id="44" name="Ink 43">
                  <a:extLst>
                    <a:ext uri="{FF2B5EF4-FFF2-40B4-BE49-F238E27FC236}">
                      <a16:creationId xmlns:a16="http://schemas.microsoft.com/office/drawing/2014/main" id="{CACA69C8-0BAE-8896-525B-00915D7276B1}"/>
                    </a:ext>
                  </a:extLst>
                </p:cNvPr>
                <p:cNvPicPr/>
                <p:nvPr/>
              </p:nvPicPr>
              <p:blipFill>
                <a:blip r:embed="rId8"/>
                <a:stretch>
                  <a:fillRect/>
                </a:stretch>
              </p:blipFill>
              <p:spPr>
                <a:xfrm>
                  <a:off x="2233481" y="3859955"/>
                  <a:ext cx="159514" cy="181612"/>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45" name="Ink 44">
                  <a:extLst>
                    <a:ext uri="{FF2B5EF4-FFF2-40B4-BE49-F238E27FC236}">
                      <a16:creationId xmlns:a16="http://schemas.microsoft.com/office/drawing/2014/main" id="{579BB802-EB65-7493-AEBC-9FAF5D1075E9}"/>
                    </a:ext>
                  </a:extLst>
                </p14:cNvPr>
                <p14:cNvContentPartPr/>
                <p14:nvPr/>
              </p14:nvContentPartPr>
              <p14:xfrm>
                <a:off x="4350338" y="3885436"/>
                <a:ext cx="134280" cy="143280"/>
              </p14:xfrm>
            </p:contentPart>
          </mc:Choice>
          <mc:Fallback>
            <p:pic>
              <p:nvPicPr>
                <p:cNvPr id="45" name="Ink 44">
                  <a:extLst>
                    <a:ext uri="{FF2B5EF4-FFF2-40B4-BE49-F238E27FC236}">
                      <a16:creationId xmlns:a16="http://schemas.microsoft.com/office/drawing/2014/main" id="{579BB802-EB65-7493-AEBC-9FAF5D1075E9}"/>
                    </a:ext>
                  </a:extLst>
                </p:cNvPr>
                <p:cNvPicPr/>
                <p:nvPr/>
              </p:nvPicPr>
              <p:blipFill>
                <a:blip r:embed="rId10"/>
                <a:stretch>
                  <a:fillRect/>
                </a:stretch>
              </p:blipFill>
              <p:spPr>
                <a:xfrm>
                  <a:off x="4336292" y="3869333"/>
                  <a:ext cx="162091" cy="175814"/>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46" name="Ink 45">
                  <a:extLst>
                    <a:ext uri="{FF2B5EF4-FFF2-40B4-BE49-F238E27FC236}">
                      <a16:creationId xmlns:a16="http://schemas.microsoft.com/office/drawing/2014/main" id="{84381B70-A381-2970-4E94-50A0D7B26159}"/>
                    </a:ext>
                  </a:extLst>
                </p14:cNvPr>
                <p14:cNvContentPartPr/>
                <p14:nvPr/>
              </p14:nvContentPartPr>
              <p14:xfrm>
                <a:off x="5568938" y="3142756"/>
                <a:ext cx="124200" cy="126720"/>
              </p14:xfrm>
            </p:contentPart>
          </mc:Choice>
          <mc:Fallback>
            <p:pic>
              <p:nvPicPr>
                <p:cNvPr id="46" name="Ink 45">
                  <a:extLst>
                    <a:ext uri="{FF2B5EF4-FFF2-40B4-BE49-F238E27FC236}">
                      <a16:creationId xmlns:a16="http://schemas.microsoft.com/office/drawing/2014/main" id="{84381B70-A381-2970-4E94-50A0D7B26159}"/>
                    </a:ext>
                  </a:extLst>
                </p:cNvPr>
                <p:cNvPicPr/>
                <p:nvPr/>
              </p:nvPicPr>
              <p:blipFill>
                <a:blip r:embed="rId12"/>
                <a:stretch>
                  <a:fillRect/>
                </a:stretch>
              </p:blipFill>
              <p:spPr>
                <a:xfrm>
                  <a:off x="5554888" y="3126299"/>
                  <a:ext cx="152019" cy="159305"/>
                </a:xfrm>
                <a:prstGeom prst="rect">
                  <a:avLst/>
                </a:prstGeom>
              </p:spPr>
            </p:pic>
          </mc:Fallback>
        </mc:AlternateContent>
        <p:grpSp>
          <p:nvGrpSpPr>
            <p:cNvPr id="49" name="Group 48">
              <a:extLst>
                <a:ext uri="{FF2B5EF4-FFF2-40B4-BE49-F238E27FC236}">
                  <a16:creationId xmlns:a16="http://schemas.microsoft.com/office/drawing/2014/main" id="{13AB4C0D-D5F0-FDCC-0255-38C469097469}"/>
                </a:ext>
              </a:extLst>
            </p:cNvPr>
            <p:cNvGrpSpPr/>
            <p:nvPr/>
          </p:nvGrpSpPr>
          <p:grpSpPr>
            <a:xfrm>
              <a:off x="2148938" y="4220236"/>
              <a:ext cx="137520" cy="124560"/>
              <a:chOff x="2148938" y="4220236"/>
              <a:chExt cx="137520" cy="124560"/>
            </a:xfrm>
          </p:grpSpPr>
          <mc:AlternateContent xmlns:mc="http://schemas.openxmlformats.org/markup-compatibility/2006">
            <mc:Choice xmlns:p14="http://schemas.microsoft.com/office/powerpoint/2010/main" Requires="p14">
              <p:contentPart p14:bwMode="auto" r:id="rId13">
                <p14:nvContentPartPr>
                  <p14:cNvPr id="47" name="Ink 46">
                    <a:extLst>
                      <a:ext uri="{FF2B5EF4-FFF2-40B4-BE49-F238E27FC236}">
                        <a16:creationId xmlns:a16="http://schemas.microsoft.com/office/drawing/2014/main" id="{73336F8A-068F-B1D0-1FA3-34EA74316EC4}"/>
                      </a:ext>
                    </a:extLst>
                  </p14:cNvPr>
                  <p14:cNvContentPartPr/>
                  <p14:nvPr/>
                </p14:nvContentPartPr>
                <p14:xfrm>
                  <a:off x="2169098" y="4220236"/>
                  <a:ext cx="53280" cy="91440"/>
                </p14:xfrm>
              </p:contentPart>
            </mc:Choice>
            <mc:Fallback>
              <p:pic>
                <p:nvPicPr>
                  <p:cNvPr id="47" name="Ink 46">
                    <a:extLst>
                      <a:ext uri="{FF2B5EF4-FFF2-40B4-BE49-F238E27FC236}">
                        <a16:creationId xmlns:a16="http://schemas.microsoft.com/office/drawing/2014/main" id="{73336F8A-068F-B1D0-1FA3-34EA74316EC4}"/>
                      </a:ext>
                    </a:extLst>
                  </p:cNvPr>
                  <p:cNvPicPr/>
                  <p:nvPr/>
                </p:nvPicPr>
                <p:blipFill>
                  <a:blip r:embed="rId14"/>
                  <a:stretch>
                    <a:fillRect/>
                  </a:stretch>
                </p:blipFill>
                <p:spPr>
                  <a:xfrm>
                    <a:off x="2164331" y="4214644"/>
                    <a:ext cx="62814" cy="102623"/>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48" name="Ink 47">
                    <a:extLst>
                      <a:ext uri="{FF2B5EF4-FFF2-40B4-BE49-F238E27FC236}">
                        <a16:creationId xmlns:a16="http://schemas.microsoft.com/office/drawing/2014/main" id="{0A68B15A-775A-0041-BAD5-ADB671CEA37A}"/>
                      </a:ext>
                    </a:extLst>
                  </p14:cNvPr>
                  <p14:cNvContentPartPr/>
                  <p14:nvPr/>
                </p14:nvContentPartPr>
                <p14:xfrm>
                  <a:off x="2148938" y="4328956"/>
                  <a:ext cx="137520" cy="15840"/>
                </p14:xfrm>
              </p:contentPart>
            </mc:Choice>
            <mc:Fallback>
              <p:pic>
                <p:nvPicPr>
                  <p:cNvPr id="48" name="Ink 47">
                    <a:extLst>
                      <a:ext uri="{FF2B5EF4-FFF2-40B4-BE49-F238E27FC236}">
                        <a16:creationId xmlns:a16="http://schemas.microsoft.com/office/drawing/2014/main" id="{0A68B15A-775A-0041-BAD5-ADB671CEA37A}"/>
                      </a:ext>
                    </a:extLst>
                  </p:cNvPr>
                  <p:cNvPicPr/>
                  <p:nvPr/>
                </p:nvPicPr>
                <p:blipFill>
                  <a:blip r:embed="rId16"/>
                  <a:stretch>
                    <a:fillRect/>
                  </a:stretch>
                </p:blipFill>
                <p:spPr>
                  <a:xfrm>
                    <a:off x="2144167" y="4323346"/>
                    <a:ext cx="147062" cy="270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7">
              <p14:nvContentPartPr>
                <p14:cNvPr id="50" name="Ink 49">
                  <a:extLst>
                    <a:ext uri="{FF2B5EF4-FFF2-40B4-BE49-F238E27FC236}">
                      <a16:creationId xmlns:a16="http://schemas.microsoft.com/office/drawing/2014/main" id="{358DBE0B-8A23-92B3-B371-011CB0AE2CD4}"/>
                    </a:ext>
                  </a:extLst>
                </p14:cNvPr>
                <p14:cNvContentPartPr/>
                <p14:nvPr/>
              </p14:nvContentPartPr>
              <p14:xfrm>
                <a:off x="4361138" y="4272076"/>
                <a:ext cx="93600" cy="92520"/>
              </p14:xfrm>
            </p:contentPart>
          </mc:Choice>
          <mc:Fallback>
            <p:pic>
              <p:nvPicPr>
                <p:cNvPr id="50" name="Ink 49">
                  <a:extLst>
                    <a:ext uri="{FF2B5EF4-FFF2-40B4-BE49-F238E27FC236}">
                      <a16:creationId xmlns:a16="http://schemas.microsoft.com/office/drawing/2014/main" id="{358DBE0B-8A23-92B3-B371-011CB0AE2CD4}"/>
                    </a:ext>
                  </a:extLst>
                </p:cNvPr>
                <p:cNvPicPr/>
                <p:nvPr/>
              </p:nvPicPr>
              <p:blipFill>
                <a:blip r:embed="rId18"/>
                <a:stretch>
                  <a:fillRect/>
                </a:stretch>
              </p:blipFill>
              <p:spPr>
                <a:xfrm>
                  <a:off x="4356374" y="4266499"/>
                  <a:ext cx="103128" cy="103675"/>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51" name="Ink 50">
                  <a:extLst>
                    <a:ext uri="{FF2B5EF4-FFF2-40B4-BE49-F238E27FC236}">
                      <a16:creationId xmlns:a16="http://schemas.microsoft.com/office/drawing/2014/main" id="{ACE50A80-2071-87F3-D31C-3F6724691F34}"/>
                    </a:ext>
                  </a:extLst>
                </p14:cNvPr>
                <p14:cNvContentPartPr/>
                <p14:nvPr/>
              </p14:nvContentPartPr>
              <p14:xfrm>
                <a:off x="5573618" y="3437956"/>
                <a:ext cx="126720" cy="95760"/>
              </p14:xfrm>
            </p:contentPart>
          </mc:Choice>
          <mc:Fallback>
            <p:pic>
              <p:nvPicPr>
                <p:cNvPr id="51" name="Ink 50">
                  <a:extLst>
                    <a:ext uri="{FF2B5EF4-FFF2-40B4-BE49-F238E27FC236}">
                      <a16:creationId xmlns:a16="http://schemas.microsoft.com/office/drawing/2014/main" id="{ACE50A80-2071-87F3-D31C-3F6724691F34}"/>
                    </a:ext>
                  </a:extLst>
                </p:cNvPr>
                <p:cNvPicPr/>
                <p:nvPr/>
              </p:nvPicPr>
              <p:blipFill>
                <a:blip r:embed="rId20"/>
                <a:stretch>
                  <a:fillRect/>
                </a:stretch>
              </p:blipFill>
              <p:spPr>
                <a:xfrm>
                  <a:off x="5568841" y="3432362"/>
                  <a:ext cx="136273" cy="106948"/>
                </a:xfrm>
                <a:prstGeom prst="rect">
                  <a:avLst/>
                </a:prstGeom>
              </p:spPr>
            </p:pic>
          </mc:Fallback>
        </mc:AlternateContent>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77924-E3E7-D12F-BD6D-7DCFF4AF53A8}"/>
              </a:ext>
            </a:extLst>
          </p:cNvPr>
          <p:cNvSpPr>
            <a:spLocks noGrp="1"/>
          </p:cNvSpPr>
          <p:nvPr>
            <p:ph type="title"/>
          </p:nvPr>
        </p:nvSpPr>
        <p:spPr>
          <a:xfrm>
            <a:off x="786231" y="555600"/>
            <a:ext cx="7519569" cy="755700"/>
          </a:xfrm>
        </p:spPr>
        <p:txBody>
          <a:bodyPr anchor="ctr"/>
          <a:lstStyle/>
          <a:p>
            <a:pPr algn="ctr"/>
            <a:r>
              <a:rPr lang="en-US" sz="3200" b="1" dirty="0"/>
              <a:t>Model Evaluation and interpretation </a:t>
            </a:r>
          </a:p>
        </p:txBody>
      </p:sp>
      <p:pic>
        <p:nvPicPr>
          <p:cNvPr id="54" name="Picture 53">
            <a:extLst>
              <a:ext uri="{FF2B5EF4-FFF2-40B4-BE49-F238E27FC236}">
                <a16:creationId xmlns:a16="http://schemas.microsoft.com/office/drawing/2014/main" id="{62909181-938C-01E9-11EA-B16D33406FF6}"/>
              </a:ext>
            </a:extLst>
          </p:cNvPr>
          <p:cNvPicPr>
            <a:picLocks noChangeAspect="1"/>
          </p:cNvPicPr>
          <p:nvPr/>
        </p:nvPicPr>
        <p:blipFill>
          <a:blip r:embed="rId2"/>
          <a:stretch>
            <a:fillRect/>
          </a:stretch>
        </p:blipFill>
        <p:spPr>
          <a:xfrm>
            <a:off x="1725901" y="1433945"/>
            <a:ext cx="5098174" cy="3153955"/>
          </a:xfrm>
          <a:prstGeom prst="rect">
            <a:avLst/>
          </a:prstGeom>
        </p:spPr>
      </p:pic>
    </p:spTree>
    <p:extLst>
      <p:ext uri="{BB962C8B-B14F-4D97-AF65-F5344CB8AC3E}">
        <p14:creationId xmlns:p14="http://schemas.microsoft.com/office/powerpoint/2010/main" val="25027343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20"/>
          <p:cNvSpPr txBox="1">
            <a:spLocks noGrp="1"/>
          </p:cNvSpPr>
          <p:nvPr>
            <p:ph type="title"/>
          </p:nvPr>
        </p:nvSpPr>
        <p:spPr>
          <a:xfrm>
            <a:off x="192347" y="464148"/>
            <a:ext cx="4045200" cy="790727"/>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3800" b="1" dirty="0"/>
              <a:t>Bagging</a:t>
            </a:r>
            <a:r>
              <a:rPr lang="en" sz="3800" dirty="0"/>
              <a:t> </a:t>
            </a:r>
            <a:endParaRPr sz="3800" dirty="0"/>
          </a:p>
        </p:txBody>
      </p:sp>
      <p:sp>
        <p:nvSpPr>
          <p:cNvPr id="4" name="TextBox 3">
            <a:extLst>
              <a:ext uri="{FF2B5EF4-FFF2-40B4-BE49-F238E27FC236}">
                <a16:creationId xmlns:a16="http://schemas.microsoft.com/office/drawing/2014/main" id="{B7805E1B-444F-3319-3CF3-5D9FB4E87673}"/>
              </a:ext>
            </a:extLst>
          </p:cNvPr>
          <p:cNvSpPr txBox="1"/>
          <p:nvPr/>
        </p:nvSpPr>
        <p:spPr>
          <a:xfrm>
            <a:off x="4904508" y="536345"/>
            <a:ext cx="4045200" cy="646331"/>
          </a:xfrm>
          <a:prstGeom prst="rect">
            <a:avLst/>
          </a:prstGeom>
          <a:noFill/>
        </p:spPr>
        <p:txBody>
          <a:bodyPr wrap="square" rtlCol="0">
            <a:spAutoFit/>
          </a:bodyPr>
          <a:lstStyle/>
          <a:p>
            <a:r>
              <a:rPr lang="en-US" sz="3600" b="1" dirty="0">
                <a:solidFill>
                  <a:schemeClr val="bg1"/>
                </a:solidFill>
              </a:rPr>
              <a:t>Random Forest</a:t>
            </a:r>
          </a:p>
        </p:txBody>
      </p:sp>
      <p:sp>
        <p:nvSpPr>
          <p:cNvPr id="7" name="TextBox 6">
            <a:extLst>
              <a:ext uri="{FF2B5EF4-FFF2-40B4-BE49-F238E27FC236}">
                <a16:creationId xmlns:a16="http://schemas.microsoft.com/office/drawing/2014/main" id="{56B29076-445B-A85D-6744-3FA900E40202}"/>
              </a:ext>
            </a:extLst>
          </p:cNvPr>
          <p:cNvSpPr txBox="1"/>
          <p:nvPr/>
        </p:nvSpPr>
        <p:spPr>
          <a:xfrm>
            <a:off x="602673" y="1669473"/>
            <a:ext cx="3352800" cy="1356782"/>
          </a:xfrm>
          <a:prstGeom prst="rect">
            <a:avLst/>
          </a:prstGeom>
          <a:noFill/>
        </p:spPr>
        <p:txBody>
          <a:bodyPr wrap="square" rtlCol="0">
            <a:spAutoFit/>
          </a:bodyPr>
          <a:lstStyle/>
          <a:p>
            <a:pPr marL="285750" indent="-285750">
              <a:lnSpc>
                <a:spcPct val="250000"/>
              </a:lnSpc>
              <a:buFont typeface="Arial" panose="020B0604020202020204" pitchFamily="34" charset="0"/>
              <a:buChar char="•"/>
            </a:pPr>
            <a:r>
              <a:rPr lang="en-US" sz="1800" dirty="0"/>
              <a:t>Uses all predictors</a:t>
            </a:r>
          </a:p>
          <a:p>
            <a:pPr marL="285750" indent="-285750">
              <a:lnSpc>
                <a:spcPct val="250000"/>
              </a:lnSpc>
              <a:buFont typeface="Arial" panose="020B0604020202020204" pitchFamily="34" charset="0"/>
              <a:buChar char="•"/>
            </a:pPr>
            <a:r>
              <a:rPr lang="en-US" sz="1800" dirty="0"/>
              <a:t>Reduces Variance </a:t>
            </a:r>
          </a:p>
        </p:txBody>
      </p:sp>
      <p:sp>
        <p:nvSpPr>
          <p:cNvPr id="8" name="TextBox 7">
            <a:extLst>
              <a:ext uri="{FF2B5EF4-FFF2-40B4-BE49-F238E27FC236}">
                <a16:creationId xmlns:a16="http://schemas.microsoft.com/office/drawing/2014/main" id="{D4F4628B-454B-8A5F-FA83-D607F7B86B7B}"/>
              </a:ext>
            </a:extLst>
          </p:cNvPr>
          <p:cNvSpPr txBox="1"/>
          <p:nvPr/>
        </p:nvSpPr>
        <p:spPr>
          <a:xfrm>
            <a:off x="5077691" y="1669473"/>
            <a:ext cx="3858491" cy="1831784"/>
          </a:xfrm>
          <a:prstGeom prst="rect">
            <a:avLst/>
          </a:prstGeom>
          <a:noFill/>
        </p:spPr>
        <p:txBody>
          <a:bodyPr wrap="square" rtlCol="0">
            <a:spAutoFit/>
          </a:bodyPr>
          <a:lstStyle/>
          <a:p>
            <a:pPr marL="285750" indent="-285750">
              <a:lnSpc>
                <a:spcPct val="250000"/>
              </a:lnSpc>
              <a:buFont typeface="Arial" panose="020B0604020202020204" pitchFamily="34" charset="0"/>
              <a:buChar char="•"/>
            </a:pPr>
            <a:r>
              <a:rPr lang="en-US" sz="1600" dirty="0">
                <a:solidFill>
                  <a:schemeClr val="bg1"/>
                </a:solidFill>
              </a:rPr>
              <a:t>Uses subset of predictors </a:t>
            </a:r>
          </a:p>
          <a:p>
            <a:pPr marL="285750" indent="-285750">
              <a:lnSpc>
                <a:spcPct val="250000"/>
              </a:lnSpc>
              <a:buFont typeface="Arial" panose="020B0604020202020204" pitchFamily="34" charset="0"/>
              <a:buChar char="•"/>
            </a:pPr>
            <a:r>
              <a:rPr lang="en-US" sz="1600" dirty="0">
                <a:solidFill>
                  <a:schemeClr val="bg1"/>
                </a:solidFill>
              </a:rPr>
              <a:t>Reduces correlation between trees</a:t>
            </a:r>
          </a:p>
          <a:p>
            <a:pPr marL="285750" indent="-285750">
              <a:lnSpc>
                <a:spcPct val="250000"/>
              </a:lnSpc>
              <a:buFont typeface="Arial" panose="020B0604020202020204" pitchFamily="34" charset="0"/>
              <a:buChar char="•"/>
            </a:pPr>
            <a:r>
              <a:rPr lang="en-US" sz="1600" dirty="0">
                <a:solidFill>
                  <a:schemeClr val="bg1"/>
                </a:solidFill>
              </a:rPr>
              <a:t>Better Performance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0E6343-58AE-66E8-692F-FCCBED5173C3}"/>
              </a:ext>
            </a:extLst>
          </p:cNvPr>
          <p:cNvSpPr>
            <a:spLocks noGrp="1"/>
          </p:cNvSpPr>
          <p:nvPr>
            <p:ph type="title"/>
          </p:nvPr>
        </p:nvSpPr>
        <p:spPr>
          <a:xfrm>
            <a:off x="311700" y="409999"/>
            <a:ext cx="8520600" cy="878473"/>
          </a:xfrm>
        </p:spPr>
        <p:txBody>
          <a:bodyPr/>
          <a:lstStyle/>
          <a:p>
            <a:r>
              <a:rPr lang="en-US" sz="3200" b="1" dirty="0"/>
              <a:t>Performance Comparison</a:t>
            </a:r>
            <a:br>
              <a:rPr lang="en-US" b="1" dirty="0"/>
            </a:br>
            <a:endParaRPr lang="en-US" b="1" dirty="0"/>
          </a:p>
        </p:txBody>
      </p:sp>
      <p:pic>
        <p:nvPicPr>
          <p:cNvPr id="4" name="Picture 3">
            <a:extLst>
              <a:ext uri="{FF2B5EF4-FFF2-40B4-BE49-F238E27FC236}">
                <a16:creationId xmlns:a16="http://schemas.microsoft.com/office/drawing/2014/main" id="{F9496789-E116-1FFE-CB58-FFF9E02D36DB}"/>
              </a:ext>
            </a:extLst>
          </p:cNvPr>
          <p:cNvPicPr>
            <a:picLocks noChangeAspect="1"/>
          </p:cNvPicPr>
          <p:nvPr/>
        </p:nvPicPr>
        <p:blipFill>
          <a:blip r:embed="rId2"/>
          <a:stretch>
            <a:fillRect/>
          </a:stretch>
        </p:blipFill>
        <p:spPr>
          <a:xfrm>
            <a:off x="4745208" y="1766454"/>
            <a:ext cx="4087092" cy="2528455"/>
          </a:xfrm>
          <a:prstGeom prst="rect">
            <a:avLst/>
          </a:prstGeom>
        </p:spPr>
      </p:pic>
      <p:pic>
        <p:nvPicPr>
          <p:cNvPr id="6" name="Picture 5">
            <a:extLst>
              <a:ext uri="{FF2B5EF4-FFF2-40B4-BE49-F238E27FC236}">
                <a16:creationId xmlns:a16="http://schemas.microsoft.com/office/drawing/2014/main" id="{E53BE26B-761D-6B44-E105-C707E4D8472C}"/>
              </a:ext>
            </a:extLst>
          </p:cNvPr>
          <p:cNvPicPr>
            <a:picLocks noChangeAspect="1"/>
          </p:cNvPicPr>
          <p:nvPr/>
        </p:nvPicPr>
        <p:blipFill>
          <a:blip r:embed="rId3"/>
          <a:stretch>
            <a:fillRect/>
          </a:stretch>
        </p:blipFill>
        <p:spPr>
          <a:xfrm>
            <a:off x="512549" y="1721428"/>
            <a:ext cx="4232659" cy="2618509"/>
          </a:xfrm>
          <a:prstGeom prst="rect">
            <a:avLst/>
          </a:prstGeom>
        </p:spPr>
      </p:pic>
    </p:spTree>
    <p:extLst>
      <p:ext uri="{BB962C8B-B14F-4D97-AF65-F5344CB8AC3E}">
        <p14:creationId xmlns:p14="http://schemas.microsoft.com/office/powerpoint/2010/main" val="26118961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21"/>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b="1" dirty="0"/>
              <a:t>Variable Importance </a:t>
            </a:r>
            <a:endParaRPr b="1"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
        <p:nvSpPr>
          <p:cNvPr id="201" name="Google Shape;201;p21"/>
          <p:cNvSpPr txBox="1"/>
          <p:nvPr/>
        </p:nvSpPr>
        <p:spPr>
          <a:xfrm>
            <a:off x="732325" y="1530926"/>
            <a:ext cx="6979200" cy="3253323"/>
          </a:xfrm>
          <a:prstGeom prst="rect">
            <a:avLst/>
          </a:prstGeom>
          <a:noFill/>
          <a:ln>
            <a:noFill/>
          </a:ln>
        </p:spPr>
        <p:txBody>
          <a:bodyPr spcFirstLastPara="1" wrap="square" lIns="91425" tIns="91425" rIns="91425" bIns="91425" anchor="t" anchorCtr="0">
            <a:noAutofit/>
          </a:bodyPr>
          <a:lstStyle/>
          <a:p>
            <a:pPr marL="457200" lvl="0" indent="-330200" algn="l" rtl="0">
              <a:lnSpc>
                <a:spcPct val="115000"/>
              </a:lnSpc>
              <a:spcBef>
                <a:spcPts val="600"/>
              </a:spcBef>
              <a:spcAft>
                <a:spcPts val="0"/>
              </a:spcAft>
              <a:buSzPts val="1600"/>
              <a:buChar char="●"/>
            </a:pPr>
            <a:r>
              <a:rPr lang="en-US" sz="1600" b="1" dirty="0">
                <a:highlight>
                  <a:schemeClr val="lt1"/>
                </a:highlight>
              </a:rPr>
              <a:t>Most Important Predictors:</a:t>
            </a:r>
          </a:p>
          <a:p>
            <a:pPr marL="914400" lvl="1" indent="-330200" algn="l" rtl="0">
              <a:lnSpc>
                <a:spcPct val="115000"/>
              </a:lnSpc>
              <a:spcBef>
                <a:spcPts val="1000"/>
              </a:spcBef>
              <a:spcAft>
                <a:spcPts val="0"/>
              </a:spcAft>
              <a:buSzPts val="1600"/>
              <a:buChar char="○"/>
            </a:pPr>
            <a:r>
              <a:rPr lang="en-US" dirty="0">
                <a:highlight>
                  <a:schemeClr val="lt1"/>
                </a:highlight>
              </a:rPr>
              <a:t>Grade level</a:t>
            </a:r>
          </a:p>
          <a:p>
            <a:pPr marL="914400" lvl="1" indent="-330200" algn="l" rtl="0">
              <a:lnSpc>
                <a:spcPct val="115000"/>
              </a:lnSpc>
              <a:spcBef>
                <a:spcPts val="1000"/>
              </a:spcBef>
              <a:spcAft>
                <a:spcPts val="0"/>
              </a:spcAft>
              <a:buSzPts val="1600"/>
              <a:buChar char="○"/>
            </a:pPr>
            <a:r>
              <a:rPr lang="en-US" dirty="0">
                <a:highlight>
                  <a:schemeClr val="lt1"/>
                </a:highlight>
              </a:rPr>
              <a:t>Income</a:t>
            </a:r>
          </a:p>
          <a:p>
            <a:pPr marL="914400" lvl="1" indent="-330200" algn="l" rtl="0">
              <a:lnSpc>
                <a:spcPct val="115000"/>
              </a:lnSpc>
              <a:spcBef>
                <a:spcPts val="1000"/>
              </a:spcBef>
              <a:spcAft>
                <a:spcPts val="0"/>
              </a:spcAft>
              <a:buSzPts val="1600"/>
              <a:buChar char="○"/>
            </a:pPr>
            <a:r>
              <a:rPr lang="en-US" dirty="0">
                <a:highlight>
                  <a:schemeClr val="lt1"/>
                </a:highlight>
              </a:rPr>
              <a:t>Poverty Level</a:t>
            </a:r>
          </a:p>
          <a:p>
            <a:pPr marL="457200" lvl="0" indent="-330200" algn="l" rtl="0">
              <a:lnSpc>
                <a:spcPct val="115000"/>
              </a:lnSpc>
              <a:spcBef>
                <a:spcPts val="1000"/>
              </a:spcBef>
              <a:spcAft>
                <a:spcPts val="0"/>
              </a:spcAft>
              <a:buSzPts val="1600"/>
              <a:buChar char="●"/>
            </a:pPr>
            <a:r>
              <a:rPr lang="en-US" sz="1600" b="1" dirty="0">
                <a:highlight>
                  <a:schemeClr val="lt1"/>
                </a:highlight>
              </a:rPr>
              <a:t>Less Important:</a:t>
            </a:r>
          </a:p>
          <a:p>
            <a:pPr marL="914400" lvl="1" indent="-330200" algn="l" rtl="0">
              <a:lnSpc>
                <a:spcPct val="115000"/>
              </a:lnSpc>
              <a:spcBef>
                <a:spcPts val="1000"/>
              </a:spcBef>
              <a:spcAft>
                <a:spcPts val="0"/>
              </a:spcAft>
              <a:buSzPts val="1600"/>
              <a:buChar char="○"/>
            </a:pPr>
            <a:r>
              <a:rPr lang="en-US" dirty="0">
                <a:highlight>
                  <a:schemeClr val="lt1"/>
                </a:highlight>
              </a:rPr>
              <a:t>Parental Presence</a:t>
            </a:r>
          </a:p>
          <a:p>
            <a:pPr marL="914400" lvl="1" indent="-330200" algn="l" rtl="0">
              <a:lnSpc>
                <a:spcPct val="115000"/>
              </a:lnSpc>
              <a:spcBef>
                <a:spcPts val="1000"/>
              </a:spcBef>
              <a:spcAft>
                <a:spcPts val="0"/>
              </a:spcAft>
              <a:buSzPts val="1600"/>
              <a:buChar char="○"/>
            </a:pPr>
            <a:r>
              <a:rPr lang="en-US" dirty="0">
                <a:highlight>
                  <a:schemeClr val="lt1"/>
                </a:highlight>
              </a:rPr>
              <a:t>Geographical variables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C544F-8697-8C50-B371-78B494042158}"/>
              </a:ext>
            </a:extLst>
          </p:cNvPr>
          <p:cNvSpPr>
            <a:spLocks noGrp="1"/>
          </p:cNvSpPr>
          <p:nvPr>
            <p:ph type="title"/>
          </p:nvPr>
        </p:nvSpPr>
        <p:spPr>
          <a:xfrm>
            <a:off x="311700" y="389219"/>
            <a:ext cx="8520600" cy="607800"/>
          </a:xfrm>
        </p:spPr>
        <p:txBody>
          <a:bodyPr/>
          <a:lstStyle/>
          <a:p>
            <a:r>
              <a:rPr lang="en-US" b="1" dirty="0"/>
              <a:t>Ethical Considerations</a:t>
            </a:r>
          </a:p>
        </p:txBody>
      </p:sp>
      <p:sp>
        <p:nvSpPr>
          <p:cNvPr id="3" name="Google Shape;201;p21">
            <a:extLst>
              <a:ext uri="{FF2B5EF4-FFF2-40B4-BE49-F238E27FC236}">
                <a16:creationId xmlns:a16="http://schemas.microsoft.com/office/drawing/2014/main" id="{EFB5491D-67B4-60C4-CEC8-982B4CA7A648}"/>
              </a:ext>
            </a:extLst>
          </p:cNvPr>
          <p:cNvSpPr txBox="1"/>
          <p:nvPr/>
        </p:nvSpPr>
        <p:spPr>
          <a:xfrm>
            <a:off x="732325" y="1510145"/>
            <a:ext cx="6979200" cy="3253323"/>
          </a:xfrm>
          <a:prstGeom prst="rect">
            <a:avLst/>
          </a:prstGeom>
          <a:noFill/>
          <a:ln>
            <a:noFill/>
          </a:ln>
        </p:spPr>
        <p:txBody>
          <a:bodyPr spcFirstLastPara="1" wrap="square" lIns="91425" tIns="91425" rIns="91425" bIns="91425" anchor="t" anchorCtr="0">
            <a:noAutofit/>
          </a:bodyPr>
          <a:lstStyle/>
          <a:p>
            <a:pPr marL="457200" lvl="0" indent="-330200" algn="l" rtl="0">
              <a:lnSpc>
                <a:spcPct val="200000"/>
              </a:lnSpc>
              <a:spcBef>
                <a:spcPts val="600"/>
              </a:spcBef>
              <a:spcAft>
                <a:spcPts val="0"/>
              </a:spcAft>
              <a:buSzPts val="1600"/>
              <a:buChar char="●"/>
            </a:pPr>
            <a:r>
              <a:rPr lang="en-US" sz="1600" b="1" dirty="0">
                <a:highlight>
                  <a:schemeClr val="lt1"/>
                </a:highlight>
              </a:rPr>
              <a:t>Results show correlation, not causation</a:t>
            </a:r>
          </a:p>
          <a:p>
            <a:pPr marL="457200" lvl="0" indent="-330200" algn="l" rtl="0">
              <a:lnSpc>
                <a:spcPct val="200000"/>
              </a:lnSpc>
              <a:spcBef>
                <a:spcPts val="1000"/>
              </a:spcBef>
              <a:spcAft>
                <a:spcPts val="0"/>
              </a:spcAft>
              <a:buSzPts val="1600"/>
              <a:buChar char="●"/>
            </a:pPr>
            <a:r>
              <a:rPr lang="en-US" sz="1600" b="1" dirty="0">
                <a:highlight>
                  <a:schemeClr val="lt1"/>
                </a:highlight>
              </a:rPr>
              <a:t>Demographics ≠ behavior</a:t>
            </a:r>
          </a:p>
          <a:p>
            <a:pPr marL="457200" lvl="0" indent="-330200" algn="l" rtl="0">
              <a:lnSpc>
                <a:spcPct val="200000"/>
              </a:lnSpc>
              <a:spcBef>
                <a:spcPts val="1000"/>
              </a:spcBef>
              <a:spcAft>
                <a:spcPts val="0"/>
              </a:spcAft>
              <a:buSzPts val="1600"/>
              <a:buChar char="●"/>
            </a:pPr>
            <a:r>
              <a:rPr lang="en-US" sz="1600" b="1" dirty="0">
                <a:highlight>
                  <a:schemeClr val="lt1"/>
                </a:highlight>
              </a:rPr>
              <a:t>Avoid Stereotyping</a:t>
            </a:r>
          </a:p>
          <a:p>
            <a:pPr marL="457200" lvl="0" indent="-330200" algn="l" rtl="0">
              <a:lnSpc>
                <a:spcPct val="200000"/>
              </a:lnSpc>
              <a:spcBef>
                <a:spcPts val="1000"/>
              </a:spcBef>
              <a:spcAft>
                <a:spcPts val="0"/>
              </a:spcAft>
              <a:buSzPts val="1600"/>
              <a:buChar char="●"/>
            </a:pPr>
            <a:r>
              <a:rPr lang="en-US" sz="1600" b="1" dirty="0">
                <a:highlight>
                  <a:schemeClr val="lt1"/>
                </a:highlight>
              </a:rPr>
              <a:t>Reflect broader social context</a:t>
            </a:r>
          </a:p>
        </p:txBody>
      </p:sp>
    </p:spTree>
    <p:extLst>
      <p:ext uri="{BB962C8B-B14F-4D97-AF65-F5344CB8AC3E}">
        <p14:creationId xmlns:p14="http://schemas.microsoft.com/office/powerpoint/2010/main" val="2121213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3D919-42DD-BF81-7AD2-20057C061426}"/>
              </a:ext>
            </a:extLst>
          </p:cNvPr>
          <p:cNvSpPr>
            <a:spLocks noGrp="1"/>
          </p:cNvSpPr>
          <p:nvPr>
            <p:ph type="title"/>
          </p:nvPr>
        </p:nvSpPr>
        <p:spPr/>
        <p:txBody>
          <a:bodyPr/>
          <a:lstStyle/>
          <a:p>
            <a:pPr algn="ctr"/>
            <a:r>
              <a:rPr lang="en-US" b="1" dirty="0"/>
              <a:t>Conclusion</a:t>
            </a:r>
          </a:p>
        </p:txBody>
      </p:sp>
      <p:sp>
        <p:nvSpPr>
          <p:cNvPr id="3" name="Google Shape;201;p21">
            <a:extLst>
              <a:ext uri="{FF2B5EF4-FFF2-40B4-BE49-F238E27FC236}">
                <a16:creationId xmlns:a16="http://schemas.microsoft.com/office/drawing/2014/main" id="{8E3AD6D2-BC7C-C168-9257-B4C744972202}"/>
              </a:ext>
            </a:extLst>
          </p:cNvPr>
          <p:cNvSpPr txBox="1"/>
          <p:nvPr/>
        </p:nvSpPr>
        <p:spPr>
          <a:xfrm>
            <a:off x="732325" y="1510145"/>
            <a:ext cx="6979200" cy="3253323"/>
          </a:xfrm>
          <a:prstGeom prst="rect">
            <a:avLst/>
          </a:prstGeom>
          <a:noFill/>
          <a:ln>
            <a:noFill/>
          </a:ln>
        </p:spPr>
        <p:txBody>
          <a:bodyPr spcFirstLastPara="1" wrap="square" lIns="91425" tIns="91425" rIns="91425" bIns="91425" anchor="t" anchorCtr="0">
            <a:noAutofit/>
          </a:bodyPr>
          <a:lstStyle/>
          <a:p>
            <a:pPr marL="457200" lvl="0" indent="-330200" algn="l" rtl="0">
              <a:lnSpc>
                <a:spcPct val="200000"/>
              </a:lnSpc>
              <a:spcBef>
                <a:spcPts val="600"/>
              </a:spcBef>
              <a:spcAft>
                <a:spcPts val="0"/>
              </a:spcAft>
              <a:buSzPts val="1600"/>
              <a:buChar char="●"/>
            </a:pPr>
            <a:r>
              <a:rPr lang="en-US" sz="1600" b="1" dirty="0">
                <a:highlight>
                  <a:schemeClr val="lt1"/>
                </a:highlight>
              </a:rPr>
              <a:t>Grade level is the strongest predictor</a:t>
            </a:r>
          </a:p>
          <a:p>
            <a:pPr marL="457200" lvl="0" indent="-330200" algn="l" rtl="0">
              <a:lnSpc>
                <a:spcPct val="200000"/>
              </a:lnSpc>
              <a:spcBef>
                <a:spcPts val="1000"/>
              </a:spcBef>
              <a:spcAft>
                <a:spcPts val="0"/>
              </a:spcAft>
              <a:buSzPts val="1600"/>
              <a:buChar char="●"/>
            </a:pPr>
            <a:r>
              <a:rPr lang="en-US" sz="1600" b="1" dirty="0">
                <a:highlight>
                  <a:schemeClr val="lt1"/>
                </a:highlight>
              </a:rPr>
              <a:t>Substance use increases with age</a:t>
            </a:r>
          </a:p>
          <a:p>
            <a:pPr marL="457200" lvl="0" indent="-330200" algn="l" rtl="0">
              <a:lnSpc>
                <a:spcPct val="200000"/>
              </a:lnSpc>
              <a:spcBef>
                <a:spcPts val="1000"/>
              </a:spcBef>
              <a:spcAft>
                <a:spcPts val="0"/>
              </a:spcAft>
              <a:buSzPts val="1600"/>
              <a:buChar char="●"/>
            </a:pPr>
            <a:r>
              <a:rPr lang="en-US" sz="1600" b="1" dirty="0">
                <a:highlight>
                  <a:schemeClr val="lt1"/>
                </a:highlight>
              </a:rPr>
              <a:t>Demographics alone are limited</a:t>
            </a:r>
          </a:p>
          <a:p>
            <a:pPr marL="457200" lvl="0" indent="-330200" algn="l" rtl="0">
              <a:lnSpc>
                <a:spcPct val="200000"/>
              </a:lnSpc>
              <a:spcBef>
                <a:spcPts val="1000"/>
              </a:spcBef>
              <a:spcAft>
                <a:spcPts val="0"/>
              </a:spcAft>
              <a:buSzPts val="1600"/>
              <a:buChar char="●"/>
            </a:pPr>
            <a:r>
              <a:rPr lang="en-US" sz="1600" b="1" dirty="0">
                <a:highlight>
                  <a:schemeClr val="lt1"/>
                </a:highlight>
              </a:rPr>
              <a:t>Random Forest improves performance</a:t>
            </a:r>
          </a:p>
        </p:txBody>
      </p:sp>
    </p:spTree>
    <p:extLst>
      <p:ext uri="{BB962C8B-B14F-4D97-AF65-F5344CB8AC3E}">
        <p14:creationId xmlns:p14="http://schemas.microsoft.com/office/powerpoint/2010/main" val="33231346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79"/>
        <p:cNvGrpSpPr/>
        <p:nvPr/>
      </p:nvGrpSpPr>
      <p:grpSpPr>
        <a:xfrm>
          <a:off x="0" y="0"/>
          <a:ext cx="0" cy="0"/>
          <a:chOff x="0" y="0"/>
          <a:chExt cx="0" cy="0"/>
        </a:xfrm>
      </p:grpSpPr>
      <p:sp>
        <p:nvSpPr>
          <p:cNvPr id="380" name="Google Shape;380;p45"/>
          <p:cNvSpPr txBox="1">
            <a:spLocks noGrp="1"/>
          </p:cNvSpPr>
          <p:nvPr>
            <p:ph type="subTitle" idx="1"/>
          </p:nvPr>
        </p:nvSpPr>
        <p:spPr>
          <a:xfrm>
            <a:off x="1340427" y="1331768"/>
            <a:ext cx="6463145" cy="2479964"/>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5400" b="1" dirty="0"/>
              <a:t>Thank You!</a:t>
            </a:r>
            <a:endParaRPr sz="5400" dirty="0"/>
          </a:p>
        </p:txBody>
      </p:sp>
    </p:spTree>
  </p:cSld>
  <p:clrMapOvr>
    <a:masterClrMapping/>
  </p:clrMapOvr>
</p:sld>
</file>

<file path=ppt/theme/theme1.xml><?xml version="1.0" encoding="utf-8"?>
<a:theme xmlns:a="http://schemas.openxmlformats.org/drawingml/2006/main"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TotalTime>
  <Words>695</Words>
  <Application>Microsoft Office PowerPoint</Application>
  <PresentationFormat>On-screen Show (16:9)</PresentationFormat>
  <Paragraphs>102</Paragraphs>
  <Slides>14</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Roboto</vt:lpstr>
      <vt:lpstr>Arial</vt:lpstr>
      <vt:lpstr>Geometric</vt:lpstr>
      <vt:lpstr>Youth Substance Use  DATA 5322: Statistical Machine Learning II</vt:lpstr>
      <vt:lpstr>Introduction</vt:lpstr>
      <vt:lpstr>Domain Problem </vt:lpstr>
      <vt:lpstr>Data Overview</vt:lpstr>
      <vt:lpstr>Data Cleaning</vt:lpstr>
      <vt:lpstr>Modeling Approach</vt:lpstr>
      <vt:lpstr>Decision Tree Plot</vt:lpstr>
      <vt:lpstr>Model Evaluation and interpretation </vt:lpstr>
      <vt:lpstr>Bagging </vt:lpstr>
      <vt:lpstr>Performance Comparison </vt:lpstr>
      <vt:lpstr>Variable Importance    </vt:lpstr>
      <vt:lpstr>Ethical Considerations</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John Gakwa</dc:creator>
  <cp:lastModifiedBy>John Gakwa</cp:lastModifiedBy>
  <cp:revision>1</cp:revision>
  <dcterms:modified xsi:type="dcterms:W3CDTF">2026-04-11T11:40:47Z</dcterms:modified>
</cp:coreProperties>
</file>