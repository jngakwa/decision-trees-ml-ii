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8" r:id="rId3"/>
    <p:sldId id="259" r:id="rId4"/>
    <p:sldId id="260" r:id="rId5"/>
    <p:sldId id="295" r:id="rId6"/>
    <p:sldId id="296" r:id="rId7"/>
    <p:sldId id="262" r:id="rId8"/>
    <p:sldId id="290" r:id="rId9"/>
    <p:sldId id="263" r:id="rId10"/>
    <p:sldId id="291" r:id="rId11"/>
    <p:sldId id="264" r:id="rId12"/>
    <p:sldId id="292" r:id="rId13"/>
    <p:sldId id="297" r:id="rId14"/>
    <p:sldId id="293" r:id="rId15"/>
    <p:sldId id="288" r:id="rId16"/>
  </p:sldIdLst>
  <p:sldSz cx="9144000" cy="5143500" type="screen16x9"/>
  <p:notesSz cx="6858000" cy="9144000"/>
  <p:embeddedFontLst>
    <p:embeddedFont>
      <p:font typeface="Roboto" panose="020000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8EF795-61F7-467A-95B5-79E99003107C}">
  <a:tblStyle styleId="{3E8EF795-61F7-467A-95B5-79E99003107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674" autoAdjust="0"/>
  </p:normalViewPr>
  <p:slideViewPr>
    <p:cSldViewPr snapToGrid="0">
      <p:cViewPr>
        <p:scale>
          <a:sx n="92" d="100"/>
          <a:sy n="92" d="100"/>
        </p:scale>
        <p:origin x="54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27:11.704"/>
    </inkml:context>
    <inkml:brush xml:id="br0">
      <inkml:brushProperty name="width" value="0.035" units="cm"/>
      <inkml:brushProperty name="height" value="0.035" units="cm"/>
    </inkml:brush>
  </inkml:definitions>
  <inkml:trace contextRef="#ctx0" brushRef="#br0">0 0 20237,'0'3736'0</inkml:trace>
  <inkml:trace contextRef="#ctx0" brushRef="#br0" timeOffset="-33606.29">8286 4157 20237,'0'-4157'0,"-8286"4157"0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0:45.203"/>
    </inkml:context>
    <inkml:brush xml:id="br0">
      <inkml:brushProperty name="width" value="0.035" units="cm"/>
      <inkml:brushProperty name="height" value="0.035" units="cm"/>
    </inkml:brush>
  </inkml:definitions>
  <inkml:trace contextRef="#ctx0" brushRef="#br0">1 0 18445,'0'2653'0</inkml:trace>
  <inkml:trace contextRef="#ctx0" brushRef="#br0" timeOffset="-1">7496 2526 18445,'0'-2526'0,"-7495"2526"0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1:12.591"/>
    </inkml:context>
    <inkml:brush xml:id="br0">
      <inkml:brushProperty name="width" value="0.1" units="cm"/>
      <inkml:brushProperty name="height" value="0.1" units="cm"/>
    </inkml:brush>
  </inkml:definitions>
  <inkml:trace contextRef="#ctx0" brushRef="#br0">350 89 7554,'-3'-27'4636,"3"24"-4393,0 1 0,0 0 0,0 0 0,-1-1-1,1 1 1,0 0 0,-1-1 0,0 1 0,-2-4-1,2 5-152,0 0-1,0 0 0,0-1 1,-1 2-1,1-1 0,-1 0 1,1 0-1,-1 0 0,1 1 1,-1-1-1,1 0 0,-1 1 1,0-1-1,1 1 0,-1 0 1,0-1-1,0 1 0,1 0 1,-1 0-1,-3 0 0,-8 0 60,0 1-1,0-1 1,-1 2-1,1 0 1,0 0-1,1 1 1,-1 0-1,1 1 1,-1 0-1,1 1 1,0 0-1,1 0 1,0 1-1,0 1 1,-11 7-1,14-8-154,-1 1 0,1 0-1,1 0 1,-1 0 0,1 1 0,1 0-1,0 0 1,0 1 0,1-1-1,0 1 1,1 0 0,0 0 0,0 0-1,1 1 1,1-1 0,0 1 0,-1 18-1,3-18 6,1 1-1,0-1 0,1 0 1,0 0-1,1 1 0,1-1 1,-1 0-1,2-1 0,0 1 1,0-1-1,9 12 0,-9-15-1,-1-1 0,1 0-1,0 0 1,0 0 0,1-1-1,0 0 1,-1 0 0,2 0-1,-1 0 1,1-1 0,-1 1-1,1-2 1,0 1 0,0-1-1,0 1 1,1-2 0,-1 1-1,1-1 1,9 1 0,-5-2 5,-1 0 0,0-1 0,1-1 0,-1 1 1,0-1-1,0-1 0,0 0 0,0 0 1,11-6-1,-4 2 15,-1-1 1,0-1 0,0 0 0,21-17-1,-33 22-7,0 0 0,0-1-1,0 0 1,0 0 0,-1 0 0,0 0-1,0-1 1,-1 1 0,1-1-1,-2 0 1,1 0 0,-1 0 0,0 0-1,0 0 1,-1 0 0,0 0-1,0 0 1,-1-1 0,1 1 0,-2 0-1,1-1 1,-1 1 0,0 0-1,-3-8 1,-2-1 48,0 0 0,-1 1-1,0-1 1,-1 1 0,-1 1 0,-1-1 0,0 1-1,-20-18 1,17 18-35,-27-26 10,37 37-33,0-1-1,0 1 1,0 0 0,0 0 0,-1 0 0,1 0-1,-1 0 1,0 1 0,1 0 0,-1-1 0,-5 0 0,7 2-35,-1 0 0,1 0 0,0 0 1,0 1-1,0-1 0,0 0 1,0 1-1,-1-1 0,1 1 1,0 0-1,0 0 0,0 0 0,1-1 1,-1 2-1,0-1 0,0 0 1,-2 2-1,-29 28-3011,20-18-322,-9 6 683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1:14.111"/>
    </inkml:context>
    <inkml:brush xml:id="br0">
      <inkml:brushProperty name="width" value="0.1" units="cm"/>
      <inkml:brushProperty name="height" value="0.1" units="cm"/>
    </inkml:brush>
  </inkml:definitions>
  <inkml:trace contextRef="#ctx0" brushRef="#br0">343 46 7338,'0'-1'184,"1"0"1,-1 1 0,0-1 0,0 0 0,0 0 0,0 0-1,0 1 1,0-1 0,-1 0 0,1 0 0,0 1 0,0-1-1,-1 0 1,1 0 0,0 1 0,-1-1 0,1 0 0,-1 1-1,1-1 1,-1 0 0,1 1 0,-1-1 0,0 1 0,1-1-1,-1 1 1,0-1 0,1 1 0,-1-1 0,0 1 0,0 0-1,0-1 1,1 1 0,-1 0 0,0-1 0,0 1 0,0 0-1,0 0 1,-1 0 0,-42-7 1324,35 7-991,-1-1-467,-1 0 0,1 1 0,0 0 1,0 1-1,0 0 0,0 0 0,-1 1 0,2 0 1,-1 0-1,0 1 0,1 0 0,-1 1 0,1-1 1,0 2-1,0-1 0,1 1 0,0 0 1,0 1-1,0-1 0,1 1 0,0 1 0,0-1 1,0 1-1,1 0 0,1 0 0,-1 1 0,-6 13 1,7-12-53,1 0 0,1 0 0,0 1 0,0-1 1,1 1-1,0-1 0,1 1 0,0 0 1,1-1-1,0 1 0,1 0 0,0 0 1,1-1-1,4 11 0,-3-12 0,0 0 0,1-1 0,0 1 1,1-1-1,0 0 0,1 0 0,-1 0 0,1-1 0,1 0 0,0 0 0,0 0 0,0 0 0,0-1 1,1 0-1,0-1 0,16 8 0,-12-7-42,0 0 1,0-1-1,1 0 0,0-1 1,0 0-1,0 0 1,1-1-1,-1-1 0,0 0 1,17 0-1,-23-2 21,0 1 0,0-1 0,0 0 0,0-1-1,0 0 1,-1 0 0,1 0 0,0 0 0,-1-1 0,0 0 0,0 0-1,0 0 1,0-1 0,-1 0 0,1 0 0,-1 0 0,0-1 0,-1 1 0,1-1-1,6-9 1,-2 1 64,-1 0-1,-1 0 1,0 0-1,-1-1 1,0 0-1,-2-1 1,0 1-1,-1 0 1,2-22-1,-4 28 2,-1 0 0,0 0-1,-1 1 1,0-1 0,0 0 0,-1 1-1,0-1 1,-1 1 0,0-1 0,0 1-1,-1 0 1,0 0 0,0 0 0,-1 0-1,0 1 1,-1 0 0,1 0-1,-1 0 1,-9-7 0,5 6 53,-1 0 0,0 0-1,0 0 1,0 1 0,-1 1 0,-18-7 0,23 11-103,1-1 1,-1 1 0,0 0-1,0 0 1,0 0-1,0 1 1,0 0 0,0 0-1,0 1 1,0-1-1,0 1 1,0 1 0,1-1-1,-9 3 1,-10 4-845,-1 1 0,2 0 0,-1 2 0,2 0 0,-25 16 1,22-9-421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1:15.347"/>
    </inkml:context>
    <inkml:brush xml:id="br0">
      <inkml:brushProperty name="width" value="0.1" units="cm"/>
      <inkml:brushProperty name="height" value="0.1" units="cm"/>
    </inkml:brush>
  </inkml:definitions>
  <inkml:trace contextRef="#ctx0" brushRef="#br0">379 110 8434,'-3'-7'878,"-1"0"1,0 0 0,-1 0-1,0 0 1,0 0 0,-7-6-1,7 8-521,-1-1-1,0 1 1,-1 1 0,1-1-1,-1 1 1,-13-7-1,15 9-308,-1 0-1,1 0 1,-1 0-1,1 0 1,-1 1-1,0 0 1,0 0-1,0 0 1,0 1-1,0-1 1,0 1-1,0 1 1,0-1 0,0 1-1,0-1 1,0 1-1,0 1 1,0-1-1,1 1 1,-1 0-1,0 0 1,-8 5-1,2-1-44,1 1-1,1 0 1,0 1 0,0 0-1,0 0 1,1 0-1,1 1 1,0 0-1,0 1 1,1 0 0,1 0-1,0 0 1,0 0-1,-7 23 1,11-27-9,0 1 1,0 0-1,1 0 1,0 0-1,1 0 0,0 0 1,0 0-1,1 0 1,0 0-1,1 0 0,-1 0 1,1 0-1,1-1 1,0 1-1,0 0 0,0-1 1,1 0-1,0 0 1,1 0-1,-1 0 0,1 0 1,1-1-1,-1 0 1,1 0-1,11 7 1,-10-7-11,0-1 1,0 1 0,1-2-1,0 1 1,0-1 0,0 0-1,0 0 1,1-1 0,-1 0-1,1 0 1,0-1 0,0 0-1,0 0 1,-1-1 0,1 0-1,0 0 1,0-1 0,0 0-1,0 0 1,-1-1 0,1 0-1,-1 0 1,1-1 0,-1 1-1,0-2 1,0 1 0,-1-1-1,9-5 1,-7 4 53,1-1 1,-2 0-1,1-1 1,-1 0-1,0 0 0,-1 0 1,0-1-1,0 1 1,-1-2-1,0 1 0,-1-1 1,0 1-1,0-1 0,-1 0 1,-1-1-1,0 1 1,0 0-1,-1-1 0,0 0 1,-1 1-1,-1-17 1,0 21-26,-1 0 0,0 0 1,0 0-1,0 0 0,-1 0 1,0 1-1,0-1 1,0 0-1,-1 1 0,0-1 1,0 1-1,0 0 0,0 0 1,-1 0-1,0 0 1,0 1-1,0-1 0,0 1 1,-1 0-1,0 0 0,-9-5 1,7 6-46,0-1 1,-1 1-1,1 0 1,0 0-1,-1 0 1,0 1-1,1 0 1,-1 1 0,0-1-1,1 1 1,-1 0-1,0 1 1,0 0-1,1 0 1,-15 3-1,0 3-1082,1 0-1,0 1 1,-21 11-1,6-1-465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0.390"/>
    </inkml:context>
    <inkml:brush xml:id="br0">
      <inkml:brushProperty name="width" value="0.035" units="cm"/>
      <inkml:brushProperty name="height" value="0.035" units="cm"/>
      <inkml:brushProperty name="color" value="#E71224"/>
    </inkml:brush>
  </inkml:definitions>
  <inkml:trace contextRef="#ctx0" brushRef="#br0">3 161 7514,'-2'-2'8203,"2"2"-8147,0-1 0,0 1 0,0 0 0,0-1 0,0 1 0,0 0 0,0-1 0,0 1 0,0 0 0,0-1 0,0 1 1,0 0-1,0-1 0,0 1 0,1 0 0,-1-1 0,0 1 0,0 0 0,0 0 0,1-1 0,-1 1 0,0 0 0,1 0 0,-1-1 0,0 1 0,0 0 0,1 0 0,-1 0 0,0-1 0,1 1 0,0 0 0,20-14 515,-1-1-1,33-32 0,7-5-556,-47 41-63,3 1 293,-23 32 132,2-8-275,0 1 1,1 0-1,1 0 1,1 0-1,0 16 1,5 77 350,-1-95-604,2 6 581,-4-19-515,0 1-1,0-1 0,0 1 1,0-1-1,0 0 1,0 1-1,0-1 1,0 0-1,0 1 1,-1-1-1,1 0 1,0 1-1,0-1 1,0 0-1,0 1 0,-1-1 1,1 0-1,0 0 1,-1 1-1,1-1 1,0 0-1,0 0 1,-1 1-1,1-1 1,0 0-1,-1 0 1,1 0-1,0 1 0,-1-1 1,1 0-1,-1 0 1,1 0-1,0 0 1,-1 0-1,1 0 1,-1 0-1,1 0 1,-1 0-1,-7 0-510,-1 0 125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0.659"/>
    </inkml:context>
    <inkml:brush xml:id="br0">
      <inkml:brushProperty name="width" value="0.035" units="cm"/>
      <inkml:brushProperty name="height" value="0.035" units="cm"/>
      <inkml:brushProperty name="color" value="#E71224"/>
    </inkml:brush>
  </inkml:definitions>
  <inkml:trace contextRef="#ctx0" brushRef="#br0">8 47 11690,'-6'0'1593,"5"-4"1023,1 0-1247,9 0-337,5-1-376,13 0-328,7-2-120,7 2-160,5-2-24,4 3-8,-1 3 8,-2 1-88,-5 1-112,-5 3-264,-3 1-344,-4 1-600,-2-5 703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2.403"/>
    </inkml:context>
    <inkml:brush xml:id="br0">
      <inkml:brushProperty name="width" value="0.035" units="cm"/>
      <inkml:brushProperty name="height" value="0.035" units="cm"/>
      <inkml:brushProperty name="color" value="#E71224"/>
    </inkml:brush>
  </inkml:definitions>
  <inkml:trace contextRef="#ctx0" brushRef="#br0">19 97 10850,'-1'-1'225,"-1"1"-1,1-1 0,0 0 0,0 0 0,0 1 0,0-1 1,0 0-1,0 0 0,0 0 0,0 0 0,0 0 1,0 0-1,1-1 0,-1 1 0,0 0 0,1 0 1,-1 0-1,1-1 0,0 1 0,-1 0 0,1 0 1,0-1-1,0 1 0,0 0 0,0-2 0,1 1-52,0 0-1,0 0 0,0 0 1,0 0-1,0 0 0,1 1 1,-1-1-1,1 0 0,-1 1 1,1-1-1,0 0 0,0 1 1,3-2-1,5-3 123,0 0 0,1 1 1,0 0-1,0 1 0,14-4 0,-19 6-268,-1 1-1,0-1 0,1 1 1,-1 0-1,1 1 1,-1-1-1,1 1 0,0 0 1,-1 0-1,1 1 1,10 1-1,-13-1-53,0 0 1,0 0-1,-1 1 0,1-1 0,0 1 1,-1-1-1,1 1 0,-1 0 0,1 0 1,-1 0-1,0 0 0,0 0 0,0 0 0,-1 1 1,1-1-1,0 0 0,-1 1 0,0-1 1,0 1-1,0 0 0,0-1 0,1 4 1,-1 0-101,0 1 0,0-1 0,0 1 0,-1-1 1,0 1-1,-1 0 0,0-1 0,0 0 0,0 1 1,-1-1-1,0 1 0,-5 7 0,2-3 17,-1 0 0,-1-1-1,0 1 1,-1-2 0,0 1-1,-10 10 1,16-19 112,1 0 0,0 1-1,0-1 1,-1 0 0,1 0 0,-1 1-1,0-1 1,1 0 0,-1 0 0,0-1-1,1 1 1,-1 0 0,0 0 0,0-1-1,0 1 1,0-1 0,0 1 0,0-1-1,0 0 1,0 0 0,0 1 0,0-1-1,0-1 1,0 1 0,0 0 0,0 0-1,0 0 1,0-1 0,0 1 0,0-1-1,0 0 1,-3-1 0,2 0 43,0 0-1,0 0 1,1 0 0,-1-1-1,1 1 1,-1-1-1,1 1 1,0-1 0,0 0-1,0 0 1,1 0 0,-1 0-1,1 0 1,0 0 0,0 0-1,-1-5 1,2 7-31,-1 1 0,1-1-1,-1 0 1,1 0 0,0 1 0,0-1 0,0 0 0,-1 0-1,1 1 1,0-1 0,0 0 0,0 0 0,0 0 0,0 0-1,0 1 1,1-1 0,-1 0 0,0 0 0,0 1-1,1-1 1,-1 0 0,1 0 0,-1 1 0,1-1 0,-1 0-1,1 1 1,-1-1 0,2 0 0,0 1 4,0 0 0,-1 0 0,1 1 0,0-1-1,0 1 1,0 0 0,0-1 0,0 1 0,-1 0 0,1 0 0,1 1 0,9 3-45,7 3 166,1-2 1,0 1-1,42 6 1,7 3-34,-65-15-120,0 0 0,0 1 0,0 0 0,0 0 1,0 0-1,-1 0 0,7 5 0,-9-6 12,0-1 0,-1 1 0,1-1 0,0 1 0,-1-1 0,1 1 0,-1-1 0,1 1 0,0 0 0,-1-1 0,0 1 0,1 0 0,-1-1 0,0 1 0,1 0 0,-1-1 0,0 1 0,0 0 0,1 0 0,-1-1 0,0 1 0,0 0 0,0 0 0,0-1 0,0 1 0,-1 0-1,1 0 1,0-1 0,0 1 0,-1 0 0,1 0 0,0-1 0,-1 1 0,1 0 0,0-1 0,-1 1 0,1-1 0,-1 1 0,0 0 0,1-1 0,-1 1 0,0-1 0,1 1 0,-2 0 0,-3 2 572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3.907"/>
    </inkml:context>
    <inkml:brush xml:id="br0">
      <inkml:brushProperty name="width" value="0.035" units="cm"/>
      <inkml:brushProperty name="height" value="0.035" units="cm"/>
      <inkml:brushProperty name="color" value="#E71224"/>
    </inkml:brush>
  </inkml:definitions>
  <inkml:trace contextRef="#ctx0" brushRef="#br0">227 20 8858,'-15'0'2882,"-6"1"-8,16-4 975,12 0-3808,0 1 0,1-1 0,-1 1 0,1 0 0,0 1 0,0-1 0,-1 1 0,14 0 0,64 2-5,-83-1-36,1 0-1,-1 0 1,1 0-1,-1 0 1,0 0-1,1 1 1,-1-1-1,0 1 1,1 0-1,-1-1 1,0 1 0,0 0-1,0 0 1,0 0-1,0 0 1,0 1-1,0-1 1,0 0-1,-1 1 1,1-1-1,0 1 1,-1-1 0,1 1-1,-1 0 1,0-1-1,0 1 1,0 0-1,0 0 1,0 0-1,0 0 1,-1 0-1,1 0 1,-1 0-1,1 0 1,-1 0 0,0 0-1,0 0 1,0 0-1,-1 4 1,1-2-22,-1 0 0,-1 0 0,1 0 0,0 0 0,-1 0 0,0 0 0,0-1 0,-1 1 0,1 0 0,-1-1 0,0 1 0,0-1 0,0 0 0,-1 0 0,1 0 0,-1 0 0,0-1 0,-7 5 0,2-3 22,1 0-1,-2-1 1,1 0 0,0 0-1,-1-1 1,0 0 0,1 0-1,-1-1 1,0 0 0,0 0 0,0-1-1,-17-1 1,26-1-25,11 0 1,12-1 1,-10 3 25,0 1 0,0 0 0,-1 1 1,1 0-1,-1 0 0,1 1 0,-1 1 0,18 7 1,-23-9-1,0 1 0,0 0 0,-1 0 1,1 1-1,-1-1 0,1 1 1,-1 0-1,-1 1 0,1-1 1,-1 0-1,0 1 0,0 0 0,0 0 1,-1 0-1,0 0 0,3 7 1,-6-10 17,1-1 0,-1 0 1,0 0-1,0 0 0,0 0 1,0 0-1,0 0 1,0 1-1,0-1 0,0 0 1,0 0-1,-1 0 1,1 0-1,-1 0 0,1 0 1,-1 0-1,1 0 0,-1 0 1,0 0-1,1 0 1,-1 0-1,0 0 0,0 0 1,0 0-1,0-1 0,0 1 1,0 0-1,0-1 1,0 1-1,0 0 0,0-1 1,-1 1-1,1-1 1,0 0-1,0 1 0,0-1 1,-3 1-1,-6 1 143,0 0-1,-1-1 0,-18 2 1,20-3-100,-67 2 117,-139-12-1,185 8-318,26 1 35,2 2-77,0-1-1,0-1 1,0 1 0,0 0 0,0 0 0,0-1 0,0 1-1,0-1 1,1 1 0,-1-1 0,0 0 0,-3-1-1,3-2-620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300" dirty="0"/>
              <a:t>Hello everyone, In this presentation </a:t>
            </a:r>
            <a:r>
              <a:rPr lang="en-US" sz="1300" dirty="0"/>
              <a:t>we will be exploring youth substance use. From the DATA 5322. My name is Njenga Gakwa</a:t>
            </a:r>
            <a:endParaRPr sz="1300" dirty="0"/>
          </a:p>
          <a:p>
            <a:pPr marL="0" lvl="0" indent="0" algn="l" rtl="0">
              <a:lnSpc>
                <a:spcPct val="115000"/>
              </a:lnSpc>
              <a:spcBef>
                <a:spcPts val="600"/>
              </a:spcBef>
              <a:spcAft>
                <a:spcPts val="0"/>
              </a:spcAft>
              <a:buNone/>
            </a:pPr>
            <a:endParaRPr dirty="0"/>
          </a:p>
          <a:p>
            <a:pPr marL="0" lvl="0" indent="0" algn="l" rtl="0">
              <a:spcBef>
                <a:spcPts val="600"/>
              </a:spcBef>
              <a:spcAft>
                <a:spcPts val="0"/>
              </a:spcAft>
              <a:buNone/>
            </a:pPr>
            <a:endParaRPr sz="1000" dirty="0">
              <a:solidFill>
                <a:schemeClr val="dk1"/>
              </a:solidFill>
              <a:highlight>
                <a:srgbClr val="FFFFFF"/>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9e0bf243a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9" name="Google Shape;109;g39e0bf243a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9871134c8f_3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6" name="Google Shape;116;g39871134c8f_3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a:solidFill>
                  <a:schemeClr val="dk1"/>
                </a:solidFill>
              </a:rPr>
              <a:t>The Professional Women’s Hockey League generates a large amount of detailed game-event data including shots, goals, penalties, assists, and player information.</a:t>
            </a:r>
            <a:endParaRPr sz="1300">
              <a:solidFill>
                <a:schemeClr val="dk1"/>
              </a:solidFill>
            </a:endParaRPr>
          </a:p>
          <a:p>
            <a:pPr marL="0" lvl="0" indent="0" algn="l" rtl="0">
              <a:lnSpc>
                <a:spcPct val="115000"/>
              </a:lnSpc>
              <a:spcBef>
                <a:spcPts val="1200"/>
              </a:spcBef>
              <a:spcAft>
                <a:spcPts val="0"/>
              </a:spcAft>
              <a:buNone/>
            </a:pPr>
            <a:r>
              <a:rPr lang="en" sz="1300">
                <a:solidFill>
                  <a:schemeClr val="dk1"/>
                </a:solidFill>
              </a:rPr>
              <a:t>However, analyzing this type of data requires a structured relational database that organizes events, players, teams, and games into connected tables.</a:t>
            </a:r>
            <a:endParaRPr sz="1300">
              <a:solidFill>
                <a:schemeClr val="dk1"/>
              </a:solidFill>
            </a:endParaRPr>
          </a:p>
          <a:p>
            <a:pPr marL="0" lvl="0" indent="0" algn="l" rtl="0">
              <a:lnSpc>
                <a:spcPct val="115000"/>
              </a:lnSpc>
              <a:spcBef>
                <a:spcPts val="1200"/>
              </a:spcBef>
              <a:spcAft>
                <a:spcPts val="0"/>
              </a:spcAft>
              <a:buNone/>
            </a:pPr>
            <a:r>
              <a:rPr lang="en" sz="1300" b="1">
                <a:solidFill>
                  <a:schemeClr val="dk1"/>
                </a:solidFill>
              </a:rPr>
              <a:t>Our project addresses this challenge by designing a database that models PWHL hockey data in a way that supports structured analytics.</a:t>
            </a:r>
            <a:endParaRPr sz="1300" b="1">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600"/>
              </a:spcBef>
              <a:spcAft>
                <a:spcPts val="0"/>
              </a:spcAft>
              <a:buNone/>
            </a:pP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af1fe5002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3" name="Google Shape;123;g3af1fe5002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The project sits at the intersection of sports analytics, data management, and relational database systems.</a:t>
            </a:r>
            <a:endParaRPr sz="1200" dirty="0">
              <a:solidFill>
                <a:schemeClr val="dk1"/>
              </a:solidFill>
            </a:endParaRPr>
          </a:p>
          <a:p>
            <a:pPr marL="0" lvl="0" indent="0" algn="l" rtl="0">
              <a:lnSpc>
                <a:spcPct val="115000"/>
              </a:lnSpc>
              <a:spcBef>
                <a:spcPts val="1200"/>
              </a:spcBef>
              <a:spcAft>
                <a:spcPts val="0"/>
              </a:spcAft>
              <a:buNone/>
            </a:pPr>
            <a:r>
              <a:rPr lang="en" sz="1200" dirty="0">
                <a:solidFill>
                  <a:schemeClr val="dk1"/>
                </a:solidFill>
              </a:rPr>
              <a:t>The database was designed to capture the relationships between players, teams, games, and in-game events such as shots, goals, assists, and penalties. The key entities are listed on the screen.</a:t>
            </a:r>
            <a:endParaRPr sz="1200" dirty="0">
              <a:solidFill>
                <a:schemeClr val="dk1"/>
              </a:solidFill>
            </a:endParaRPr>
          </a:p>
          <a:p>
            <a:pPr marL="0" lvl="0" indent="0" algn="l" rtl="0">
              <a:lnSpc>
                <a:spcPct val="115000"/>
              </a:lnSpc>
              <a:spcBef>
                <a:spcPts val="1200"/>
              </a:spcBef>
              <a:spcAft>
                <a:spcPts val="0"/>
              </a:spcAft>
              <a:buNone/>
            </a:pPr>
            <a:r>
              <a:rPr lang="en" sz="1200" dirty="0">
                <a:solidFill>
                  <a:schemeClr val="dk1"/>
                </a:solidFill>
              </a:rPr>
              <a:t>…. By structuring the data in this way, we can meet our main objective of being able to use SQL to explore hockey analytics through queries related to player performance, team composition, and game outcomes.</a:t>
            </a:r>
            <a:endParaRPr sz="1200" dirty="0">
              <a:solidFill>
                <a:schemeClr val="dk1"/>
              </a:solidFill>
            </a:endParaRPr>
          </a:p>
          <a:p>
            <a:pPr marL="0" lvl="0" indent="0" algn="l" rtl="0">
              <a:lnSpc>
                <a:spcPct val="115000"/>
              </a:lnSpc>
              <a:spcBef>
                <a:spcPts val="1200"/>
              </a:spcBef>
              <a:spcAft>
                <a:spcPts val="0"/>
              </a:spcAft>
              <a:buNone/>
            </a:pPr>
            <a:endParaRPr sz="1200" dirty="0">
              <a:solidFill>
                <a:schemeClr val="dk1"/>
              </a:solidFill>
            </a:endParaRPr>
          </a:p>
          <a:p>
            <a:pPr marL="0" marR="457200" lvl="0" indent="0" algn="l" rtl="0">
              <a:lnSpc>
                <a:spcPct val="115000"/>
              </a:lnSpc>
              <a:spcBef>
                <a:spcPts val="1200"/>
              </a:spcBef>
              <a:spcAft>
                <a:spcPts val="0"/>
              </a:spcAft>
              <a:buClr>
                <a:schemeClr val="dk1"/>
              </a:buClr>
              <a:buSzPts val="1100"/>
              <a:buFont typeface="Arial"/>
              <a:buNone/>
            </a:pPr>
            <a:endParaRPr sz="1000" dirty="0">
              <a:solidFill>
                <a:srgbClr val="1F1F1F"/>
              </a:solidFill>
              <a:highlight>
                <a:srgbClr val="FFFFFF"/>
              </a:highlight>
            </a:endParaRPr>
          </a:p>
          <a:p>
            <a:pPr marL="0" lvl="0" indent="0" algn="l" rtl="0">
              <a:lnSpc>
                <a:spcPct val="115000"/>
              </a:lnSpc>
              <a:spcBef>
                <a:spcPts val="1200"/>
              </a:spcBef>
              <a:spcAft>
                <a:spcPts val="0"/>
              </a:spcAft>
              <a:buNone/>
            </a:pPr>
            <a:endParaRPr sz="1200" dirty="0">
              <a:solidFill>
                <a:srgbClr val="1F1F1F"/>
              </a:solidFill>
              <a:highlight>
                <a:srgbClr val="FFFFFF"/>
              </a:highlight>
            </a:endParaRPr>
          </a:p>
          <a:p>
            <a:pPr marL="0" lvl="0" indent="0" algn="l" rtl="0">
              <a:spcBef>
                <a:spcPts val="1200"/>
              </a:spcBef>
              <a:spcAft>
                <a:spcPts val="0"/>
              </a:spcAft>
              <a:buNone/>
            </a:pPr>
            <a:endParaRPr sz="1200" dirty="0">
              <a:solidFill>
                <a:srgbClr val="1F1F1F"/>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fc061dda1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7" name="Google Shape;167;g3afc061dda1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Now for Tools and Technologies – we used several tools across the data pipeline.</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SQLite served as the relational database where we implemented our schema and stored the hockey data.</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For analysis and data processing we used Python, specifically pandas within a Jupyter Notebook environment. This allowed us to load SQL query results directly into DataFrames for cleaning and transformation.</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Finally, SQL was used extensively for relational querying, including the multi-table JOINs, nested subqueries, and query optimization techniques (like indexing).</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Please feel free to view our github at the link provided on the screen. This is where our documentation will be permanently stored.</a:t>
            </a:r>
            <a:endParaRPr sz="1200">
              <a:solidFill>
                <a:schemeClr val="dk1"/>
              </a:solidFill>
            </a:endParaRPr>
          </a:p>
          <a:p>
            <a:pPr marL="0" lvl="0" indent="0" algn="l" rtl="0">
              <a:lnSpc>
                <a:spcPct val="115000"/>
              </a:lnSpc>
              <a:spcBef>
                <a:spcPts val="1200"/>
              </a:spcBef>
              <a:spcAft>
                <a:spcPts val="1200"/>
              </a:spcAft>
              <a:buNone/>
            </a:pPr>
            <a:endParaRPr b="1">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c6f9e47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2" name="Google Shape;192;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cdc464a17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8" name="Google Shape;198;g3cdc464a17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fdaf4908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78" name="Google Shape;378;g3afdaf4908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a:p>
          <a:p>
            <a:pPr marL="0" lvl="0" indent="0" algn="l" rtl="0">
              <a:lnSpc>
                <a:spcPct val="115000"/>
              </a:lnSpc>
              <a:spcBef>
                <a:spcPts val="600"/>
              </a:spcBef>
              <a:spcAft>
                <a:spcPts val="0"/>
              </a:spcAft>
              <a:buNone/>
            </a:pPr>
            <a:endParaRPr/>
          </a:p>
          <a:p>
            <a:pPr marL="0" lvl="0" indent="0" algn="l" rtl="0">
              <a:spcBef>
                <a:spcPts val="600"/>
              </a:spcBef>
              <a:spcAft>
                <a:spcPts val="0"/>
              </a:spcAft>
              <a:buNone/>
            </a:pPr>
            <a:endParaRPr sz="1000">
              <a:solidFill>
                <a:schemeClr val="dk1"/>
              </a:solidFill>
              <a:highlight>
                <a:srgbClr val="FFFFFF"/>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samhsa.gov/data/data-we-collect/nsduh-national-survey-drug-use-and-health/datafiles/2020"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 Type="http://schemas.openxmlformats.org/officeDocument/2006/relationships/notesSlide" Target="../notesSlides/notesSlide5.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6.png"/><Relationship Id="rId19" Type="http://schemas.openxmlformats.org/officeDocument/2006/relationships/customXml" Target="../ink/ink9.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2571749"/>
            <a:ext cx="8222100" cy="4920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dirty="0"/>
              <a:t>Youth Substance Use </a:t>
            </a:r>
            <a:endParaRPr lang="en-US" dirty="0"/>
          </a:p>
          <a:p>
            <a:pPr marL="0" lvl="0" indent="0" algn="l" rtl="0">
              <a:lnSpc>
                <a:spcPct val="115000"/>
              </a:lnSpc>
              <a:spcBef>
                <a:spcPts val="0"/>
              </a:spcBef>
              <a:spcAft>
                <a:spcPts val="0"/>
              </a:spcAft>
              <a:buNone/>
            </a:pPr>
            <a:r>
              <a:rPr lang="en-US" sz="1800" dirty="0">
                <a:solidFill>
                  <a:schemeClr val="lt2"/>
                </a:solidFill>
              </a:rPr>
              <a:t>DATA 5322: Statistical Machine Learning II</a:t>
            </a:r>
          </a:p>
        </p:txBody>
      </p:sp>
      <p:sp>
        <p:nvSpPr>
          <p:cNvPr id="86" name="Google Shape;86;p13"/>
          <p:cNvSpPr txBox="1">
            <a:spLocks noGrp="1"/>
          </p:cNvSpPr>
          <p:nvPr>
            <p:ph type="subTitle" idx="1"/>
          </p:nvPr>
        </p:nvSpPr>
        <p:spPr>
          <a:xfrm>
            <a:off x="598100" y="3694569"/>
            <a:ext cx="8222100" cy="83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Njenga Gakwa</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245750" y="13765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112" name="Google Shape;112;p1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Clr>
                <a:schemeClr val="lt1"/>
              </a:buClr>
              <a:buSzPts val="1400"/>
              <a:buChar char="●"/>
            </a:pPr>
            <a:r>
              <a:rPr lang="en" sz="1400" dirty="0"/>
              <a:t>Domain Problem </a:t>
            </a:r>
            <a:endParaRPr sz="1400" dirty="0"/>
          </a:p>
          <a:p>
            <a:pPr marL="457200" lvl="0" indent="-317500" algn="l" rtl="0">
              <a:spcBef>
                <a:spcPts val="0"/>
              </a:spcBef>
              <a:spcAft>
                <a:spcPts val="0"/>
              </a:spcAft>
              <a:buClr>
                <a:schemeClr val="lt1"/>
              </a:buClr>
              <a:buSzPts val="1400"/>
              <a:buChar char="●"/>
            </a:pPr>
            <a:r>
              <a:rPr lang="en" sz="1400" dirty="0"/>
              <a:t>Project Overview</a:t>
            </a:r>
            <a:endParaRPr sz="1400" dirty="0"/>
          </a:p>
          <a:p>
            <a:pPr marL="0" lvl="0" indent="0" algn="l" rtl="0">
              <a:spcBef>
                <a:spcPts val="800"/>
              </a:spcBef>
              <a:spcAft>
                <a:spcPts val="800"/>
              </a:spcAft>
              <a:buNone/>
            </a:pPr>
            <a:endParaRPr sz="1500" dirty="0"/>
          </a:p>
        </p:txBody>
      </p:sp>
      <p:sp>
        <p:nvSpPr>
          <p:cNvPr id="113" name="Google Shape;113;p15"/>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Domain Problem </a:t>
            </a:r>
            <a:endParaRPr b="1" dirty="0"/>
          </a:p>
        </p:txBody>
      </p:sp>
      <p:sp>
        <p:nvSpPr>
          <p:cNvPr id="119" name="Google Shape;119;p16"/>
          <p:cNvSpPr txBox="1"/>
          <p:nvPr/>
        </p:nvSpPr>
        <p:spPr>
          <a:xfrm>
            <a:off x="184580" y="1442155"/>
            <a:ext cx="4332420" cy="329134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600" dirty="0">
              <a:solidFill>
                <a:srgbClr val="1F1F1F"/>
              </a:solidFill>
            </a:endParaRPr>
          </a:p>
          <a:p>
            <a:pPr marL="0" lvl="0" indent="0" algn="l" rtl="0">
              <a:lnSpc>
                <a:spcPct val="100000"/>
              </a:lnSpc>
              <a:spcBef>
                <a:spcPts val="0"/>
              </a:spcBef>
              <a:spcAft>
                <a:spcPts val="0"/>
              </a:spcAft>
              <a:buNone/>
            </a:pPr>
            <a:r>
              <a:rPr lang="en" sz="1600" b="1" dirty="0"/>
              <a:t>Research Question:</a:t>
            </a:r>
            <a:endParaRPr sz="1600" b="1" dirty="0"/>
          </a:p>
          <a:p>
            <a:pPr marL="0" lvl="0" indent="0" algn="l" rtl="0">
              <a:lnSpc>
                <a:spcPct val="100000"/>
              </a:lnSpc>
              <a:spcBef>
                <a:spcPts val="0"/>
              </a:spcBef>
              <a:spcAft>
                <a:spcPts val="0"/>
              </a:spcAft>
              <a:buNone/>
            </a:pPr>
            <a:endParaRPr dirty="0"/>
          </a:p>
          <a:p>
            <a:pPr marL="0" lvl="0" indent="0" algn="l" rtl="0">
              <a:spcBef>
                <a:spcPts val="0"/>
              </a:spcBef>
              <a:spcAft>
                <a:spcPts val="0"/>
              </a:spcAft>
              <a:buNone/>
            </a:pPr>
            <a:r>
              <a:rPr lang="en" dirty="0"/>
              <a:t>How do demographic and household factors influence substance use and its frequency in the youth under 18?</a:t>
            </a:r>
          </a:p>
          <a:p>
            <a:pPr lvl="1"/>
            <a:endParaRPr lang="en" sz="1800" b="1" i="1" dirty="0">
              <a:highlight>
                <a:srgbClr val="FFFFFF"/>
              </a:highlight>
            </a:endParaRPr>
          </a:p>
          <a:p>
            <a:pPr lvl="1"/>
            <a:r>
              <a:rPr lang="en" b="1" i="1" dirty="0">
                <a:highlight>
                  <a:srgbClr val="FFFFFF"/>
                </a:highlight>
              </a:rPr>
              <a:t>Focus on: </a:t>
            </a:r>
          </a:p>
          <a:p>
            <a:pPr marL="285750" lvl="3" indent="-285750">
              <a:buFont typeface="Arial" panose="020B0604020202020204" pitchFamily="34" charset="0"/>
              <a:buChar char="•"/>
            </a:pPr>
            <a:r>
              <a:rPr lang="en" i="1" dirty="0">
                <a:highlight>
                  <a:srgbClr val="FFFFFF"/>
                </a:highlight>
              </a:rPr>
              <a:t>Alcohol use (binary)</a:t>
            </a:r>
          </a:p>
          <a:p>
            <a:pPr marL="285750" lvl="3" indent="-285750">
              <a:buFont typeface="Arial" panose="020B0604020202020204" pitchFamily="34" charset="0"/>
              <a:buChar char="•"/>
            </a:pPr>
            <a:r>
              <a:rPr lang="en" i="1" dirty="0">
                <a:highlight>
                  <a:srgbClr val="FFFFFF"/>
                </a:highlight>
              </a:rPr>
              <a:t>Marijuana use (multi-class)</a:t>
            </a:r>
          </a:p>
          <a:p>
            <a:pPr marL="285750" lvl="3" indent="-285750">
              <a:buFont typeface="Arial" panose="020B0604020202020204" pitchFamily="34" charset="0"/>
              <a:buChar char="•"/>
            </a:pPr>
            <a:r>
              <a:rPr lang="en-US" i="1" dirty="0">
                <a:highlight>
                  <a:srgbClr val="FFFFFF"/>
                </a:highlight>
              </a:rPr>
              <a:t>C</a:t>
            </a:r>
            <a:r>
              <a:rPr lang="en" i="1" dirty="0">
                <a:highlight>
                  <a:srgbClr val="FFFFFF"/>
                </a:highlight>
              </a:rPr>
              <a:t>igarette use frequency (regression)</a:t>
            </a:r>
          </a:p>
          <a:p>
            <a:pPr marL="285750" lvl="1" indent="-285750">
              <a:buFont typeface="Arial" panose="020B0604020202020204" pitchFamily="34" charset="0"/>
              <a:buChar char="•"/>
            </a:pPr>
            <a:endParaRPr sz="1800" b="1" i="1" dirty="0">
              <a:highlight>
                <a:srgbClr val="FFFFFF"/>
              </a:highlight>
            </a:endParaRPr>
          </a:p>
          <a:p>
            <a:pPr marL="0" lvl="0" indent="0" algn="l" rtl="0">
              <a:spcBef>
                <a:spcPts val="0"/>
              </a:spcBef>
              <a:spcAft>
                <a:spcPts val="0"/>
              </a:spcAft>
              <a:buNone/>
            </a:pPr>
            <a:endParaRPr sz="1800" dirty="0">
              <a:solidFill>
                <a:schemeClr val="dk2"/>
              </a:solidFill>
              <a:latin typeface="Roboto"/>
              <a:ea typeface="Roboto"/>
              <a:cs typeface="Roboto"/>
              <a:sym typeface="Roboto"/>
            </a:endParaRPr>
          </a:p>
        </p:txBody>
      </p:sp>
      <p:pic>
        <p:nvPicPr>
          <p:cNvPr id="5" name="Picture 4">
            <a:extLst>
              <a:ext uri="{FF2B5EF4-FFF2-40B4-BE49-F238E27FC236}">
                <a16:creationId xmlns:a16="http://schemas.microsoft.com/office/drawing/2014/main" id="{877CA1CD-09E7-92ED-D52E-FB212EF7FAE0}"/>
              </a:ext>
            </a:extLst>
          </p:cNvPr>
          <p:cNvPicPr>
            <a:picLocks noChangeAspect="1"/>
          </p:cNvPicPr>
          <p:nvPr/>
        </p:nvPicPr>
        <p:blipFill>
          <a:blip r:embed="rId3"/>
          <a:stretch>
            <a:fillRect/>
          </a:stretch>
        </p:blipFill>
        <p:spPr>
          <a:xfrm>
            <a:off x="4627003" y="1442155"/>
            <a:ext cx="4332418" cy="31703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323613" y="3462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Data Overview</a:t>
            </a:r>
            <a:endParaRPr b="1" dirty="0"/>
          </a:p>
        </p:txBody>
      </p:sp>
      <p:sp>
        <p:nvSpPr>
          <p:cNvPr id="126" name="Google Shape;126;p17"/>
          <p:cNvSpPr txBox="1"/>
          <p:nvPr/>
        </p:nvSpPr>
        <p:spPr>
          <a:xfrm>
            <a:off x="491836" y="1261625"/>
            <a:ext cx="8132619" cy="754211"/>
          </a:xfrm>
          <a:prstGeom prst="rect">
            <a:avLst/>
          </a:prstGeom>
          <a:noFill/>
          <a:ln>
            <a:noFill/>
          </a:ln>
        </p:spPr>
        <p:txBody>
          <a:bodyPr spcFirstLastPara="1" wrap="square" lIns="91425" tIns="91425" rIns="91425" bIns="91425" anchor="t" anchorCtr="0">
            <a:noAutofit/>
          </a:bodyPr>
          <a:lstStyle/>
          <a:p>
            <a:pPr marL="342900" lvl="0" indent="-342900" rtl="0">
              <a:spcBef>
                <a:spcPts val="0"/>
              </a:spcBef>
              <a:spcAft>
                <a:spcPts val="0"/>
              </a:spcAft>
              <a:buFont typeface="Arial" panose="020B0604020202020204" pitchFamily="34" charset="0"/>
              <a:buChar char="•"/>
            </a:pPr>
            <a:r>
              <a:rPr lang="en" sz="2400" b="1" dirty="0"/>
              <a:t>Source: </a:t>
            </a:r>
            <a:r>
              <a:rPr lang="en" sz="2400" dirty="0">
                <a:hlinkClick r:id="rId3"/>
              </a:rPr>
              <a:t>National Survey on Drug Use and Health</a:t>
            </a:r>
            <a:endParaRPr lang="en" sz="2400" dirty="0"/>
          </a:p>
          <a:p>
            <a:pPr marL="0" lvl="0" indent="0" rtl="0">
              <a:spcBef>
                <a:spcPts val="0"/>
              </a:spcBef>
              <a:spcAft>
                <a:spcPts val="0"/>
              </a:spcAft>
              <a:buNone/>
            </a:pPr>
            <a:endParaRPr lang="en" sz="2400" b="1" dirty="0"/>
          </a:p>
          <a:p>
            <a:pPr marL="0" lvl="0" indent="0" rtl="0">
              <a:spcBef>
                <a:spcPts val="0"/>
              </a:spcBef>
              <a:spcAft>
                <a:spcPts val="0"/>
              </a:spcAft>
              <a:buNone/>
            </a:pPr>
            <a:endParaRPr sz="1600" dirty="0"/>
          </a:p>
          <a:p>
            <a:pPr marL="0" lvl="0" indent="0" rtl="0">
              <a:spcBef>
                <a:spcPts val="0"/>
              </a:spcBef>
              <a:spcAft>
                <a:spcPts val="0"/>
              </a:spcAft>
              <a:buNone/>
            </a:pPr>
            <a:endParaRPr sz="1800" dirty="0">
              <a:solidFill>
                <a:schemeClr val="dk2"/>
              </a:solidFill>
              <a:latin typeface="Roboto"/>
              <a:ea typeface="Roboto"/>
              <a:cs typeface="Roboto"/>
              <a:sym typeface="Roboto"/>
            </a:endParaRPr>
          </a:p>
        </p:txBody>
      </p:sp>
      <p:sp>
        <p:nvSpPr>
          <p:cNvPr id="128" name="Google Shape;128;p17"/>
          <p:cNvSpPr txBox="1"/>
          <p:nvPr/>
        </p:nvSpPr>
        <p:spPr>
          <a:xfrm>
            <a:off x="986421" y="3469754"/>
            <a:ext cx="2514601" cy="1034099"/>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rgbClr val="1F1F1F"/>
              </a:buClr>
              <a:buSzPts val="1200"/>
              <a:buChar char="●"/>
            </a:pPr>
            <a:r>
              <a:rPr lang="en" sz="1200" b="1" dirty="0">
                <a:solidFill>
                  <a:srgbClr val="1F1F1F"/>
                </a:solidFill>
              </a:rPr>
              <a:t>sex</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 sz="1200" b="1" dirty="0">
                <a:solidFill>
                  <a:srgbClr val="1F1F1F"/>
                </a:solidFill>
              </a:rPr>
              <a:t>race</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 sz="1200" b="1" dirty="0">
                <a:solidFill>
                  <a:srgbClr val="1F1F1F"/>
                </a:solidFill>
              </a:rPr>
              <a:t>Income</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US" sz="1200" b="1" dirty="0">
                <a:solidFill>
                  <a:srgbClr val="1F1F1F"/>
                </a:solidFill>
              </a:rPr>
              <a:t>P</a:t>
            </a:r>
            <a:r>
              <a:rPr lang="en" sz="1200" b="1" dirty="0">
                <a:solidFill>
                  <a:srgbClr val="1F1F1F"/>
                </a:solidFill>
              </a:rPr>
              <a:t>overty level</a:t>
            </a:r>
            <a:endParaRPr sz="1200" dirty="0">
              <a:solidFill>
                <a:srgbClr val="1F1F1F"/>
              </a:solidFill>
            </a:endParaRPr>
          </a:p>
        </p:txBody>
      </p:sp>
      <p:sp>
        <p:nvSpPr>
          <p:cNvPr id="129" name="Google Shape;129;p17"/>
          <p:cNvSpPr txBox="1"/>
          <p:nvPr/>
        </p:nvSpPr>
        <p:spPr>
          <a:xfrm>
            <a:off x="3501022" y="3469754"/>
            <a:ext cx="4145400" cy="15312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300"/>
              </a:spcBef>
              <a:spcAft>
                <a:spcPts val="0"/>
              </a:spcAft>
              <a:buClr>
                <a:srgbClr val="1F1F1F"/>
              </a:buClr>
              <a:buSzPts val="1200"/>
              <a:buChar char="●"/>
            </a:pPr>
            <a:r>
              <a:rPr lang="en-US" sz="1200" b="1" dirty="0">
                <a:solidFill>
                  <a:srgbClr val="1F1F1F"/>
                </a:solidFill>
              </a:rPr>
              <a:t>p</a:t>
            </a:r>
            <a:r>
              <a:rPr lang="en" sz="1200" b="1" dirty="0">
                <a:solidFill>
                  <a:srgbClr val="1F1F1F"/>
                </a:solidFill>
              </a:rPr>
              <a:t>arental presence</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US" sz="1200" b="1" dirty="0">
                <a:solidFill>
                  <a:srgbClr val="1F1F1F"/>
                </a:solidFill>
              </a:rPr>
              <a:t>g</a:t>
            </a:r>
            <a:r>
              <a:rPr lang="en" sz="1200" b="1" dirty="0">
                <a:solidFill>
                  <a:srgbClr val="1F1F1F"/>
                </a:solidFill>
              </a:rPr>
              <a:t>eographic factors</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US" sz="1200" b="1" dirty="0">
                <a:solidFill>
                  <a:srgbClr val="1F1F1F"/>
                </a:solidFill>
              </a:rPr>
              <a:t>s</a:t>
            </a:r>
            <a:r>
              <a:rPr lang="en" sz="1200" b="1" dirty="0">
                <a:solidFill>
                  <a:srgbClr val="1F1F1F"/>
                </a:solidFill>
              </a:rPr>
              <a:t>chool grade</a:t>
            </a:r>
            <a:endParaRPr sz="1200" dirty="0">
              <a:solidFill>
                <a:srgbClr val="1F1F1F"/>
              </a:solidFill>
            </a:endParaRPr>
          </a:p>
        </p:txBody>
      </p:sp>
      <p:sp>
        <p:nvSpPr>
          <p:cNvPr id="3" name="TextBox 2">
            <a:extLst>
              <a:ext uri="{FF2B5EF4-FFF2-40B4-BE49-F238E27FC236}">
                <a16:creationId xmlns:a16="http://schemas.microsoft.com/office/drawing/2014/main" id="{65ED8C91-0506-BA02-58C9-78BC53D4E1A9}"/>
              </a:ext>
            </a:extLst>
          </p:cNvPr>
          <p:cNvSpPr txBox="1"/>
          <p:nvPr/>
        </p:nvSpPr>
        <p:spPr>
          <a:xfrm>
            <a:off x="554179" y="2126673"/>
            <a:ext cx="7266709" cy="1477328"/>
          </a:xfrm>
          <a:prstGeom prst="rect">
            <a:avLst/>
          </a:prstGeom>
          <a:noFill/>
        </p:spPr>
        <p:txBody>
          <a:bodyPr wrap="square" rtlCol="0">
            <a:spAutoFit/>
          </a:bodyPr>
          <a:lstStyle/>
          <a:p>
            <a:pPr marL="285750" indent="-285750">
              <a:buFont typeface="Arial" panose="020B0604020202020204" pitchFamily="34" charset="0"/>
              <a:buChar char="•"/>
            </a:pPr>
            <a:r>
              <a:rPr lang="en" sz="1800" b="1" dirty="0"/>
              <a:t>~10,000 observations and 79 variables</a:t>
            </a:r>
          </a:p>
          <a:p>
            <a:pPr marL="285750" indent="-285750">
              <a:buFont typeface="Arial" panose="020B0604020202020204" pitchFamily="34" charset="0"/>
              <a:buChar char="•"/>
            </a:pPr>
            <a:endParaRPr lang="en" sz="1800" b="1" dirty="0"/>
          </a:p>
          <a:p>
            <a:pPr marL="285750" indent="-285750">
              <a:buFont typeface="Arial" panose="020B0604020202020204" pitchFamily="34" charset="0"/>
              <a:buChar char="•"/>
            </a:pPr>
            <a:endParaRPr lang="en" sz="1800" b="1" dirty="0"/>
          </a:p>
          <a:p>
            <a:pPr marL="285750" indent="-285750">
              <a:buFont typeface="Arial" panose="020B0604020202020204" pitchFamily="34" charset="0"/>
              <a:buChar char="•"/>
            </a:pPr>
            <a:r>
              <a:rPr lang="en" sz="1800" b="1" dirty="0"/>
              <a:t>13 demographic variables:   </a:t>
            </a:r>
          </a:p>
          <a:p>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idx="4294967295"/>
          </p:nvPr>
        </p:nvSpPr>
        <p:spPr>
          <a:xfrm>
            <a:off x="457200" y="274638"/>
            <a:ext cx="8229600" cy="593700"/>
          </a:xfrm>
          <a:prstGeom prst="rect">
            <a:avLst/>
          </a:prstGeom>
        </p:spPr>
        <p:txBody>
          <a:bodyPr wrap="square" lIns="91425" tIns="91425" rIns="91425" bIns="91425" anchor="t"/>
          <a:lstStyle/>
          <a:p>
            <a:pPr algn="l">
              <a:buNone/>
            </a:pPr>
            <a:r>
              <a:rPr lang="en-US" sz="2800" b="1" dirty="0">
                <a:solidFill>
                  <a:schemeClr val="tx1"/>
                </a:solidFill>
              </a:rPr>
              <a:t>Theoretical Background</a:t>
            </a:r>
          </a:p>
        </p:txBody>
      </p:sp>
      <p:sp>
        <p:nvSpPr>
          <p:cNvPr id="3" name="LeftCol"/>
          <p:cNvSpPr txBox="1">
            <a:spLocks noGrp="1"/>
          </p:cNvSpPr>
          <p:nvPr>
            <p:ph type="body" idx="4294967295"/>
          </p:nvPr>
        </p:nvSpPr>
        <p:spPr>
          <a:xfrm>
            <a:off x="457200" y="914400"/>
            <a:ext cx="3962400" cy="3900000"/>
          </a:xfrm>
          <a:prstGeom prst="rect">
            <a:avLst/>
          </a:prstGeom>
          <a:solidFill>
            <a:srgbClr val="EBF3FB"/>
          </a:solidFill>
        </p:spPr>
        <p:txBody>
          <a:bodyPr wrap="square" lIns="182880" tIns="182880" rIns="182880" bIns="182880" anchor="t"/>
          <a:lstStyle/>
          <a:p>
            <a:pPr algn="l">
              <a:buNone/>
            </a:pPr>
            <a:r>
              <a:rPr lang="en-US" sz="1500" b="1" dirty="0">
                <a:solidFill>
                  <a:srgbClr val="1F3864"/>
                </a:solidFill>
              </a:rPr>
              <a:t>Decision Tree</a:t>
            </a:r>
          </a:p>
          <a:p>
            <a:pPr marL="228600" indent="-228600" algn="l">
              <a:buChar char="•"/>
            </a:pPr>
            <a:r>
              <a:rPr lang="en-US" sz="1100" dirty="0"/>
              <a:t>Recursive binary splits minimizing Gini impurity</a:t>
            </a:r>
          </a:p>
          <a:p>
            <a:pPr marL="228600" indent="-228600" algn="l">
              <a:buChar char="•"/>
            </a:pPr>
            <a:r>
              <a:rPr lang="en-US" sz="1100" dirty="0"/>
              <a:t>Tuning: mindev, minsize control tree complexity</a:t>
            </a:r>
          </a:p>
          <a:p>
            <a:pPr marL="228600" indent="-228600" algn="l">
              <a:buChar char="•"/>
            </a:pPr>
            <a:r>
              <a:rPr lang="en-US" sz="1100" dirty="0"/>
              <a:t>Evaluate: misclassification error, confusion matrix</a:t>
            </a:r>
          </a:p>
          <a:p>
            <a:pPr marL="228600" indent="-228600" algn="l">
              <a:buChar char="•"/>
            </a:pPr>
            <a:r>
              <a:rPr lang="en-US" sz="1100" dirty="0"/>
              <a:t>Limitation: prone to overfitting training data</a:t>
            </a:r>
          </a:p>
          <a:p>
            <a:pPr algn="l">
              <a:buNone/>
            </a:pPr>
            <a:endParaRPr sz="1100" dirty="0"/>
          </a:p>
          <a:p>
            <a:pPr algn="l">
              <a:buNone/>
            </a:pPr>
            <a:r>
              <a:rPr lang="en-US" sz="1500" b="1" dirty="0">
                <a:solidFill>
                  <a:srgbClr val="1F3864"/>
                </a:solidFill>
              </a:rPr>
              <a:t>Pruned Decision Tree</a:t>
            </a:r>
          </a:p>
          <a:p>
            <a:pPr marL="228600" indent="-228600" algn="l">
              <a:buChar char="•"/>
            </a:pPr>
            <a:r>
              <a:rPr lang="en-US" sz="1100" dirty="0"/>
              <a:t>Cross-validation selects optimal tree size</a:t>
            </a:r>
          </a:p>
          <a:p>
            <a:pPr marL="228600" indent="-228600" algn="l">
              <a:buChar char="•"/>
            </a:pPr>
            <a:r>
              <a:rPr lang="en-US" sz="1100" dirty="0"/>
              <a:t>Minimizes CV deviance; reduces overfitting</a:t>
            </a:r>
          </a:p>
          <a:p>
            <a:pPr marL="228600" indent="-228600" algn="l">
              <a:buChar char="•"/>
            </a:pPr>
            <a:r>
              <a:rPr lang="en-US" sz="1100" dirty="0"/>
              <a:t>More generalizable than full tree</a:t>
            </a:r>
          </a:p>
        </p:txBody>
      </p:sp>
      <p:sp>
        <p:nvSpPr>
          <p:cNvPr id="4" name="RightCol"/>
          <p:cNvSpPr txBox="1">
            <a:spLocks noGrp="1"/>
          </p:cNvSpPr>
          <p:nvPr>
            <p:ph type="body" idx="4294967295"/>
          </p:nvPr>
        </p:nvSpPr>
        <p:spPr>
          <a:xfrm>
            <a:off x="4724400" y="914400"/>
            <a:ext cx="3962400" cy="3900000"/>
          </a:xfrm>
          <a:prstGeom prst="rect">
            <a:avLst/>
          </a:prstGeom>
          <a:solidFill>
            <a:srgbClr val="EBF3FB"/>
          </a:solidFill>
        </p:spPr>
        <p:txBody>
          <a:bodyPr wrap="square" lIns="182880" tIns="182880" rIns="182880" bIns="182880" anchor="t"/>
          <a:lstStyle/>
          <a:p>
            <a:pPr algn="l">
              <a:buNone/>
            </a:pPr>
            <a:r>
              <a:rPr lang="en-US" sz="1500" b="1" dirty="0">
                <a:solidFill>
                  <a:srgbClr val="1F3864"/>
                </a:solidFill>
              </a:rPr>
              <a:t>Bagging</a:t>
            </a:r>
          </a:p>
          <a:p>
            <a:pPr marL="228600" indent="-228600" algn="l">
              <a:buChar char="•"/>
            </a:pPr>
            <a:r>
              <a:rPr lang="en-US" sz="1100" dirty="0"/>
              <a:t>Bootstrap Aggregating: trains ntree trees on resampled data</a:t>
            </a:r>
          </a:p>
          <a:p>
            <a:pPr marL="228600" indent="-228600" algn="l">
              <a:buChar char="•"/>
            </a:pPr>
            <a:r>
              <a:rPr lang="en-US" sz="1100" dirty="0"/>
              <a:t>Uses ALL p predictors at every split (mtry = p = 12)</a:t>
            </a:r>
          </a:p>
          <a:p>
            <a:pPr marL="228600" indent="-228600" algn="l">
              <a:buChar char="•"/>
            </a:pPr>
            <a:r>
              <a:rPr lang="en-US" sz="1100" dirty="0"/>
              <a:t>Limitation: trees correlated; same strong predictors dominate</a:t>
            </a:r>
          </a:p>
          <a:p>
            <a:pPr marL="228600" indent="-228600" algn="l">
              <a:buChar char="•"/>
            </a:pPr>
            <a:r>
              <a:rPr lang="en-US" sz="1100" dirty="0"/>
              <a:t>Tuning: ntree = 300; assess via OOB error rate</a:t>
            </a:r>
          </a:p>
          <a:p>
            <a:pPr algn="l">
              <a:buNone/>
            </a:pPr>
            <a:endParaRPr sz="1100"/>
          </a:p>
          <a:p>
            <a:pPr algn="l">
              <a:buNone/>
            </a:pPr>
            <a:r>
              <a:rPr lang="en-US" sz="1500" b="1" dirty="0">
                <a:solidFill>
                  <a:srgbClr val="1F3864"/>
                </a:solidFill>
              </a:rPr>
              <a:t>Random Forest</a:t>
            </a:r>
          </a:p>
          <a:p>
            <a:pPr marL="228600" indent="-228600" algn="l">
              <a:buChar char="•"/>
            </a:pPr>
            <a:r>
              <a:rPr lang="en-US" sz="1100" dirty="0"/>
              <a:t>Extends bagging: randomly samples sqrt(p) ~ 3 predictors per split</a:t>
            </a:r>
          </a:p>
          <a:p>
            <a:pPr marL="228600" indent="-228600" algn="l">
              <a:buChar char="•"/>
            </a:pPr>
            <a:r>
              <a:rPr lang="en-US" sz="1100" dirty="0"/>
              <a:t>Decorrelates trees, reduces variance, improves generalization</a:t>
            </a:r>
          </a:p>
          <a:p>
            <a:pPr marL="228600" indent="-228600" algn="l">
              <a:buChar char="•"/>
            </a:pPr>
            <a:r>
              <a:rPr lang="en-US" sz="1100" dirty="0"/>
              <a:t>Interpret via variable importance: MDA and MDG plots</a:t>
            </a:r>
          </a:p>
          <a:p>
            <a:pPr marL="228600" indent="-228600" algn="l">
              <a:buChar char="•"/>
            </a:pPr>
            <a:r>
              <a:rPr lang="en-US" sz="1100" dirty="0"/>
              <a:t>Tuning: mtry (default sqrt(12) = 3), ntree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idx="4294967295"/>
          </p:nvPr>
        </p:nvSpPr>
        <p:spPr>
          <a:xfrm>
            <a:off x="457200" y="274638"/>
            <a:ext cx="8229600" cy="593700"/>
          </a:xfrm>
          <a:prstGeom prst="rect">
            <a:avLst/>
          </a:prstGeom>
        </p:spPr>
        <p:txBody>
          <a:bodyPr wrap="square" lIns="91425" tIns="91425" rIns="91425" bIns="91425" anchor="t"/>
          <a:lstStyle/>
          <a:p>
            <a:pPr algn="l">
              <a:buNone/>
            </a:pPr>
            <a:r>
              <a:rPr lang="en-US" sz="2800" b="1" dirty="0">
                <a:solidFill>
                  <a:schemeClr val="tx1"/>
                </a:solidFill>
              </a:rPr>
              <a:t>Methodology</a:t>
            </a:r>
          </a:p>
        </p:txBody>
      </p:sp>
      <p:sp>
        <p:nvSpPr>
          <p:cNvPr id="3" name="DataPrep"/>
          <p:cNvSpPr txBox="1">
            <a:spLocks noGrp="1"/>
          </p:cNvSpPr>
          <p:nvPr>
            <p:ph type="body" idx="4294967295"/>
          </p:nvPr>
        </p:nvSpPr>
        <p:spPr>
          <a:xfrm>
            <a:off x="457200" y="914400"/>
            <a:ext cx="3810000" cy="1828800"/>
          </a:xfrm>
          <a:prstGeom prst="rect">
            <a:avLst/>
          </a:prstGeom>
          <a:solidFill>
            <a:srgbClr val="EBF3FB"/>
          </a:solidFill>
        </p:spPr>
        <p:txBody>
          <a:bodyPr wrap="square" lIns="182880" tIns="182880" rIns="182880" bIns="182880" anchor="t"/>
          <a:lstStyle/>
          <a:p>
            <a:pPr algn="l">
              <a:buNone/>
            </a:pPr>
            <a:r>
              <a:rPr lang="en-US" sz="1400" b="1" dirty="0">
                <a:solidFill>
                  <a:srgbClr val="1F3864"/>
                </a:solidFill>
              </a:rPr>
              <a:t>Data Cleaning</a:t>
            </a:r>
          </a:p>
          <a:p>
            <a:pPr marL="228600" indent="-228600" algn="l">
              <a:buChar char="•"/>
            </a:pPr>
            <a:r>
              <a:rPr lang="en-US" sz="1100" dirty="0"/>
              <a:t>13 variables converted to factors (sex, race, income, grade, etc.)</a:t>
            </a:r>
          </a:p>
          <a:p>
            <a:pPr marL="228600" indent="-228600" algn="l">
              <a:buChar char="•"/>
            </a:pPr>
            <a:r>
              <a:rPr lang="en-US" sz="1100" dirty="0"/>
              <a:t>Special codes 91, 93 recoded to 0 (non-use) for cigarette variable</a:t>
            </a:r>
          </a:p>
          <a:p>
            <a:pPr marL="228600" indent="-228600" algn="l">
              <a:buChar char="•"/>
            </a:pPr>
            <a:r>
              <a:rPr lang="en-US" sz="1100" dirty="0"/>
              <a:t>Rows with missing values dropped (drop_na)</a:t>
            </a:r>
          </a:p>
          <a:p>
            <a:pPr marL="228600" indent="-228600" algn="l">
              <a:buChar char="•"/>
            </a:pPr>
            <a:r>
              <a:rPr lang="en-US" sz="1100" dirty="0"/>
              <a:t>80/20 train/test split (set.seed = 123)</a:t>
            </a:r>
          </a:p>
          <a:p>
            <a:pPr marL="228600" indent="-228600" algn="l">
              <a:buChar char="•"/>
            </a:pPr>
            <a:r>
              <a:rPr lang="en-US" sz="1100" dirty="0"/>
              <a:t>Class imbalance: ~75% non-users, ~25% users (ALCFLAG)</a:t>
            </a:r>
          </a:p>
        </p:txBody>
      </p:sp>
      <p:sp>
        <p:nvSpPr>
          <p:cNvPr id="4" name="Tuning"/>
          <p:cNvSpPr txBox="1">
            <a:spLocks noGrp="1"/>
          </p:cNvSpPr>
          <p:nvPr>
            <p:ph type="body" idx="4294967295"/>
          </p:nvPr>
        </p:nvSpPr>
        <p:spPr>
          <a:xfrm>
            <a:off x="4724400" y="914400"/>
            <a:ext cx="3810000" cy="1828800"/>
          </a:xfrm>
          <a:prstGeom prst="rect">
            <a:avLst/>
          </a:prstGeom>
          <a:solidFill>
            <a:srgbClr val="EBF3FB"/>
          </a:solidFill>
        </p:spPr>
        <p:txBody>
          <a:bodyPr wrap="square" lIns="182880" tIns="182880" rIns="182880" bIns="182880" anchor="t"/>
          <a:lstStyle/>
          <a:p>
            <a:pPr algn="l">
              <a:buNone/>
            </a:pPr>
            <a:r>
              <a:rPr lang="en-US" sz="1400" b="1" dirty="0">
                <a:solidFill>
                  <a:srgbClr val="1F3864"/>
                </a:solidFill>
              </a:rPr>
              <a:t>Hyperparameter Tuning</a:t>
            </a:r>
          </a:p>
          <a:p>
            <a:pPr marL="228600" indent="-228600" algn="l">
              <a:buChar char="•"/>
            </a:pPr>
            <a:r>
              <a:rPr lang="en-US" sz="1100" dirty="0"/>
              <a:t>Decision Tree: cv.tree() used to select best size by CV deviance</a:t>
            </a:r>
          </a:p>
          <a:p>
            <a:pPr marL="228600" indent="-228600" algn="l">
              <a:buChar char="•"/>
            </a:pPr>
            <a:r>
              <a:rPr lang="en-US" sz="1100" dirty="0"/>
              <a:t>Pruned with prune.misclass() at optimal size</a:t>
            </a:r>
          </a:p>
          <a:p>
            <a:pPr marL="228600" indent="-228600" algn="l">
              <a:buChar char="•"/>
            </a:pPr>
            <a:r>
              <a:rPr lang="en-US" sz="1100" dirty="0"/>
              <a:t>Bagging: ntree = 300, mtry = 12 (all predictors)</a:t>
            </a:r>
          </a:p>
          <a:p>
            <a:pPr marL="228600" indent="-228600" algn="l">
              <a:buChar char="•"/>
            </a:pPr>
            <a:r>
              <a:rPr lang="en-US" sz="1100" dirty="0"/>
              <a:t>Random Forest: ntree = 500, mtry = default sqrt(12) ~ 3</a:t>
            </a:r>
          </a:p>
        </p:txBody>
      </p:sp>
      <p:sp>
        <p:nvSpPr>
          <p:cNvPr id="5" name="Metrics"/>
          <p:cNvSpPr txBox="1">
            <a:spLocks noGrp="1"/>
          </p:cNvSpPr>
          <p:nvPr>
            <p:ph type="body" idx="4294967295"/>
          </p:nvPr>
        </p:nvSpPr>
        <p:spPr>
          <a:xfrm>
            <a:off x="457200" y="2895600"/>
            <a:ext cx="3810000" cy="1828800"/>
          </a:xfrm>
          <a:prstGeom prst="rect">
            <a:avLst/>
          </a:prstGeom>
          <a:solidFill>
            <a:srgbClr val="EBF3FB"/>
          </a:solidFill>
        </p:spPr>
        <p:txBody>
          <a:bodyPr wrap="square" lIns="182880" tIns="182880" rIns="182880" bIns="182880" anchor="t"/>
          <a:lstStyle/>
          <a:p>
            <a:pPr algn="l">
              <a:buNone/>
            </a:pPr>
            <a:r>
              <a:rPr lang="en-US" sz="1400" b="1" dirty="0">
                <a:solidFill>
                  <a:srgbClr val="1F3864"/>
                </a:solidFill>
              </a:rPr>
              <a:t>Evaluation Metrics</a:t>
            </a:r>
          </a:p>
          <a:p>
            <a:pPr marL="228600" indent="-228600" algn="l">
              <a:buChar char="•"/>
            </a:pPr>
            <a:r>
              <a:rPr lang="en-US" sz="1100" dirty="0"/>
              <a:t>Accuracy: overall correct predictions</a:t>
            </a:r>
          </a:p>
          <a:p>
            <a:pPr marL="228600" indent="-228600" algn="l">
              <a:buChar char="•"/>
            </a:pPr>
            <a:r>
              <a:rPr lang="en-US" sz="1100" dirty="0"/>
              <a:t>Sensitivity: correctly identifying actual users (minority class)</a:t>
            </a:r>
          </a:p>
          <a:p>
            <a:pPr marL="228600" indent="-228600" algn="l">
              <a:buChar char="•"/>
            </a:pPr>
            <a:r>
              <a:rPr lang="en-US" sz="1100" dirty="0"/>
              <a:t>Specificity: correctly identifying non-users (majority class)</a:t>
            </a:r>
          </a:p>
          <a:p>
            <a:pPr marL="228600" indent="-228600" algn="l">
              <a:buChar char="•"/>
            </a:pPr>
            <a:r>
              <a:rPr lang="en-US" sz="1100" dirty="0"/>
              <a:t>Regression: RMSE for cigarette frequency prediction</a:t>
            </a:r>
          </a:p>
        </p:txBody>
      </p:sp>
      <p:sp>
        <p:nvSpPr>
          <p:cNvPr id="6" name="Tasks"/>
          <p:cNvSpPr txBox="1">
            <a:spLocks noGrp="1"/>
          </p:cNvSpPr>
          <p:nvPr>
            <p:ph type="body" idx="4294967295"/>
          </p:nvPr>
        </p:nvSpPr>
        <p:spPr>
          <a:xfrm>
            <a:off x="4724400" y="2895600"/>
            <a:ext cx="3810000" cy="1828800"/>
          </a:xfrm>
          <a:prstGeom prst="rect">
            <a:avLst/>
          </a:prstGeom>
          <a:solidFill>
            <a:srgbClr val="EBF3FB"/>
          </a:solidFill>
        </p:spPr>
        <p:txBody>
          <a:bodyPr wrap="square" lIns="182880" tIns="182880" rIns="182880" bIns="182880" anchor="t"/>
          <a:lstStyle/>
          <a:p>
            <a:pPr algn="l">
              <a:buNone/>
            </a:pPr>
            <a:r>
              <a:rPr lang="en-US" sz="1400" b="1" dirty="0">
                <a:solidFill>
                  <a:srgbClr val="1F3864"/>
                </a:solidFill>
              </a:rPr>
              <a:t>Three Modeling Tasks</a:t>
            </a:r>
          </a:p>
          <a:p>
            <a:pPr marL="228600" indent="-228600" algn="l">
              <a:buChar char="•"/>
            </a:pPr>
            <a:r>
              <a:rPr lang="en-US" sz="1100" dirty="0"/>
              <a:t>Binary classification: ALCFLAG (alcohol use yes/no)</a:t>
            </a:r>
          </a:p>
          <a:p>
            <a:pPr marL="228600" indent="-228600" algn="l">
              <a:buChar char="•"/>
            </a:pPr>
            <a:r>
              <a:rPr lang="en-US" sz="1100" dirty="0"/>
              <a:t>Multi-class: MRJYDAYS (marijuana use frequency)</a:t>
            </a:r>
          </a:p>
          <a:p>
            <a:pPr marL="228600" indent="-228600" algn="l">
              <a:buChar char="•"/>
            </a:pPr>
            <a:r>
              <a:rPr lang="en-US" sz="1100" dirty="0"/>
              <a:t>Regression: IRCIGFM (cigarette days per month)</a:t>
            </a:r>
          </a:p>
          <a:p>
            <a:pPr marL="228600" indent="-228600" algn="l">
              <a:buChar char="•"/>
            </a:pPr>
            <a:r>
              <a:rPr lang="en-US" sz="1100" dirty="0"/>
              <a:t>Models compared on confusion matrix and error metrics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71" name="Google Shape;171;p19"/>
          <p:cNvSpPr txBox="1">
            <a:spLocks noGrp="1"/>
          </p:cNvSpPr>
          <p:nvPr>
            <p:ph type="title"/>
          </p:nvPr>
        </p:nvSpPr>
        <p:spPr>
          <a:xfrm>
            <a:off x="2529233" y="486374"/>
            <a:ext cx="4078200" cy="593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b="1" dirty="0"/>
              <a:t>Decision Tree Plot</a:t>
            </a:r>
            <a:endParaRPr sz="3000" b="1" dirty="0"/>
          </a:p>
        </p:txBody>
      </p:sp>
      <p:grpSp>
        <p:nvGrpSpPr>
          <p:cNvPr id="52" name="Group 51">
            <a:extLst>
              <a:ext uri="{FF2B5EF4-FFF2-40B4-BE49-F238E27FC236}">
                <a16:creationId xmlns:a16="http://schemas.microsoft.com/office/drawing/2014/main" id="{4E12AE56-E74B-BE61-AAA7-E85F2F74F6A1}"/>
              </a:ext>
            </a:extLst>
          </p:cNvPr>
          <p:cNvGrpSpPr/>
          <p:nvPr/>
        </p:nvGrpSpPr>
        <p:grpSpPr>
          <a:xfrm>
            <a:off x="1944213" y="1433944"/>
            <a:ext cx="4802950" cy="3266156"/>
            <a:chOff x="1955707" y="1379859"/>
            <a:chExt cx="3744631" cy="2984737"/>
          </a:xfrm>
        </p:grpSpPr>
        <mc:AlternateContent xmlns:mc="http://schemas.openxmlformats.org/markup-compatibility/2006" xmlns:p14="http://schemas.microsoft.com/office/powerpoint/2010/main">
          <mc:Choice Requires="p14">
            <p:contentPart p14:bwMode="auto" r:id="rId3">
              <p14:nvContentPartPr>
                <p14:cNvPr id="38" name="Ink 37">
                  <a:extLst>
                    <a:ext uri="{FF2B5EF4-FFF2-40B4-BE49-F238E27FC236}">
                      <a16:creationId xmlns:a16="http://schemas.microsoft.com/office/drawing/2014/main" id="{37DC4A19-4469-4FD4-D0EA-6FA4D9F5456E}"/>
                    </a:ext>
                  </a:extLst>
                </p14:cNvPr>
                <p14:cNvContentPartPr/>
                <p14:nvPr/>
              </p14:nvContentPartPr>
              <p14:xfrm>
                <a:off x="3305977" y="1687636"/>
                <a:ext cx="2325895" cy="1368000"/>
              </p14:xfrm>
            </p:contentPart>
          </mc:Choice>
          <mc:Fallback xmlns="">
            <p:pic>
              <p:nvPicPr>
                <p:cNvPr id="38" name="Ink 37">
                  <a:extLst>
                    <a:ext uri="{FF2B5EF4-FFF2-40B4-BE49-F238E27FC236}">
                      <a16:creationId xmlns:a16="http://schemas.microsoft.com/office/drawing/2014/main" id="{37DC4A19-4469-4FD4-D0EA-6FA4D9F5456E}"/>
                    </a:ext>
                  </a:extLst>
                </p:cNvPr>
                <p:cNvPicPr/>
                <p:nvPr/>
              </p:nvPicPr>
              <p:blipFill>
                <a:blip r:embed="rId4"/>
                <a:stretch>
                  <a:fillRect/>
                </a:stretch>
              </p:blipFill>
              <p:spPr>
                <a:xfrm>
                  <a:off x="3301206" y="1682043"/>
                  <a:ext cx="2335438" cy="137918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B8194B26-0FF7-0BE5-677C-EFAA5FA67CE5}"/>
                    </a:ext>
                  </a:extLst>
                </p14:cNvPr>
                <p14:cNvContentPartPr/>
                <p14:nvPr/>
              </p14:nvContentPartPr>
              <p14:xfrm>
                <a:off x="2313151" y="2909893"/>
                <a:ext cx="2104094" cy="872886"/>
              </p14:xfrm>
            </p:contentPart>
          </mc:Choice>
          <mc:Fallback xmlns="">
            <p:pic>
              <p:nvPicPr>
                <p:cNvPr id="43" name="Ink 42">
                  <a:extLst>
                    <a:ext uri="{FF2B5EF4-FFF2-40B4-BE49-F238E27FC236}">
                      <a16:creationId xmlns:a16="http://schemas.microsoft.com/office/drawing/2014/main" id="{B8194B26-0FF7-0BE5-677C-EFAA5FA67CE5}"/>
                    </a:ext>
                  </a:extLst>
                </p:cNvPr>
                <p:cNvPicPr/>
                <p:nvPr/>
              </p:nvPicPr>
              <p:blipFill>
                <a:blip r:embed="rId6"/>
                <a:stretch>
                  <a:fillRect/>
                </a:stretch>
              </p:blipFill>
              <p:spPr>
                <a:xfrm>
                  <a:off x="2308379" y="2904300"/>
                  <a:ext cx="2113638" cy="884073"/>
                </a:xfrm>
                <a:prstGeom prst="rect">
                  <a:avLst/>
                </a:prstGeom>
              </p:spPr>
            </p:pic>
          </mc:Fallback>
        </mc:AlternateContent>
        <p:sp>
          <p:nvSpPr>
            <p:cNvPr id="40" name="TextBox 39">
              <a:extLst>
                <a:ext uri="{FF2B5EF4-FFF2-40B4-BE49-F238E27FC236}">
                  <a16:creationId xmlns:a16="http://schemas.microsoft.com/office/drawing/2014/main" id="{EAE68125-90CC-9237-31F8-8A3901427B0B}"/>
                </a:ext>
              </a:extLst>
            </p:cNvPr>
            <p:cNvSpPr txBox="1"/>
            <p:nvPr/>
          </p:nvSpPr>
          <p:spPr>
            <a:xfrm>
              <a:off x="3430349" y="1379859"/>
              <a:ext cx="2045901" cy="307777"/>
            </a:xfrm>
            <a:prstGeom prst="rect">
              <a:avLst/>
            </a:prstGeom>
            <a:noFill/>
          </p:spPr>
          <p:txBody>
            <a:bodyPr wrap="square" rtlCol="0">
              <a:spAutoFit/>
            </a:bodyPr>
            <a:lstStyle/>
            <a:p>
              <a:r>
                <a:rPr lang="en-US" b="1" dirty="0"/>
                <a:t>Grade_level: 1,2,3,4,5</a:t>
              </a:r>
            </a:p>
          </p:txBody>
        </p:sp>
        <p:sp>
          <p:nvSpPr>
            <p:cNvPr id="42" name="TextBox 41">
              <a:extLst>
                <a:ext uri="{FF2B5EF4-FFF2-40B4-BE49-F238E27FC236}">
                  <a16:creationId xmlns:a16="http://schemas.microsoft.com/office/drawing/2014/main" id="{2D7C2853-071C-CF79-5982-78C3F110956D}"/>
                </a:ext>
              </a:extLst>
            </p:cNvPr>
            <p:cNvSpPr txBox="1"/>
            <p:nvPr/>
          </p:nvSpPr>
          <p:spPr>
            <a:xfrm>
              <a:off x="1955707" y="2602116"/>
              <a:ext cx="2045901" cy="307777"/>
            </a:xfrm>
            <a:prstGeom prst="rect">
              <a:avLst/>
            </a:prstGeom>
            <a:noFill/>
          </p:spPr>
          <p:txBody>
            <a:bodyPr wrap="square" rtlCol="0">
              <a:spAutoFit/>
            </a:bodyPr>
            <a:lstStyle/>
            <a:p>
              <a:r>
                <a:rPr lang="en-US" b="1" dirty="0"/>
                <a:t>Grade_level: 1,2,3</a:t>
              </a:r>
            </a:p>
          </p:txBody>
        </p:sp>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CACA69C8-0BAE-8896-525B-00915D7276B1}"/>
                    </a:ext>
                  </a:extLst>
                </p14:cNvPr>
                <p14:cNvContentPartPr/>
                <p14:nvPr/>
              </p14:nvContentPartPr>
              <p14:xfrm>
                <a:off x="2247218" y="3876076"/>
                <a:ext cx="131760" cy="149040"/>
              </p14:xfrm>
            </p:contentPart>
          </mc:Choice>
          <mc:Fallback xmlns="">
            <p:pic>
              <p:nvPicPr>
                <p:cNvPr id="44" name="Ink 43">
                  <a:extLst>
                    <a:ext uri="{FF2B5EF4-FFF2-40B4-BE49-F238E27FC236}">
                      <a16:creationId xmlns:a16="http://schemas.microsoft.com/office/drawing/2014/main" id="{CACA69C8-0BAE-8896-525B-00915D7276B1}"/>
                    </a:ext>
                  </a:extLst>
                </p:cNvPr>
                <p:cNvPicPr/>
                <p:nvPr/>
              </p:nvPicPr>
              <p:blipFill>
                <a:blip r:embed="rId8"/>
                <a:stretch>
                  <a:fillRect/>
                </a:stretch>
              </p:blipFill>
              <p:spPr>
                <a:xfrm>
                  <a:off x="2233481" y="3859955"/>
                  <a:ext cx="159514" cy="18161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579BB802-EB65-7493-AEBC-9FAF5D1075E9}"/>
                    </a:ext>
                  </a:extLst>
                </p14:cNvPr>
                <p14:cNvContentPartPr/>
                <p14:nvPr/>
              </p14:nvContentPartPr>
              <p14:xfrm>
                <a:off x="4350338" y="3885436"/>
                <a:ext cx="134280" cy="143280"/>
              </p14:xfrm>
            </p:contentPart>
          </mc:Choice>
          <mc:Fallback xmlns="">
            <p:pic>
              <p:nvPicPr>
                <p:cNvPr id="45" name="Ink 44">
                  <a:extLst>
                    <a:ext uri="{FF2B5EF4-FFF2-40B4-BE49-F238E27FC236}">
                      <a16:creationId xmlns:a16="http://schemas.microsoft.com/office/drawing/2014/main" id="{579BB802-EB65-7493-AEBC-9FAF5D1075E9}"/>
                    </a:ext>
                  </a:extLst>
                </p:cNvPr>
                <p:cNvPicPr/>
                <p:nvPr/>
              </p:nvPicPr>
              <p:blipFill>
                <a:blip r:embed="rId10"/>
                <a:stretch>
                  <a:fillRect/>
                </a:stretch>
              </p:blipFill>
              <p:spPr>
                <a:xfrm>
                  <a:off x="4336292" y="3869333"/>
                  <a:ext cx="162091" cy="17581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6" name="Ink 45">
                  <a:extLst>
                    <a:ext uri="{FF2B5EF4-FFF2-40B4-BE49-F238E27FC236}">
                      <a16:creationId xmlns:a16="http://schemas.microsoft.com/office/drawing/2014/main" id="{84381B70-A381-2970-4E94-50A0D7B26159}"/>
                    </a:ext>
                  </a:extLst>
                </p14:cNvPr>
                <p14:cNvContentPartPr/>
                <p14:nvPr/>
              </p14:nvContentPartPr>
              <p14:xfrm>
                <a:off x="5568938" y="3142756"/>
                <a:ext cx="124200" cy="126720"/>
              </p14:xfrm>
            </p:contentPart>
          </mc:Choice>
          <mc:Fallback xmlns="">
            <p:pic>
              <p:nvPicPr>
                <p:cNvPr id="46" name="Ink 45">
                  <a:extLst>
                    <a:ext uri="{FF2B5EF4-FFF2-40B4-BE49-F238E27FC236}">
                      <a16:creationId xmlns:a16="http://schemas.microsoft.com/office/drawing/2014/main" id="{84381B70-A381-2970-4E94-50A0D7B26159}"/>
                    </a:ext>
                  </a:extLst>
                </p:cNvPr>
                <p:cNvPicPr/>
                <p:nvPr/>
              </p:nvPicPr>
              <p:blipFill>
                <a:blip r:embed="rId12"/>
                <a:stretch>
                  <a:fillRect/>
                </a:stretch>
              </p:blipFill>
              <p:spPr>
                <a:xfrm>
                  <a:off x="5554888" y="3126299"/>
                  <a:ext cx="152019" cy="159305"/>
                </a:xfrm>
                <a:prstGeom prst="rect">
                  <a:avLst/>
                </a:prstGeom>
              </p:spPr>
            </p:pic>
          </mc:Fallback>
        </mc:AlternateContent>
        <p:grpSp>
          <p:nvGrpSpPr>
            <p:cNvPr id="49" name="Group 48">
              <a:extLst>
                <a:ext uri="{FF2B5EF4-FFF2-40B4-BE49-F238E27FC236}">
                  <a16:creationId xmlns:a16="http://schemas.microsoft.com/office/drawing/2014/main" id="{13AB4C0D-D5F0-FDCC-0255-38C469097469}"/>
                </a:ext>
              </a:extLst>
            </p:cNvPr>
            <p:cNvGrpSpPr/>
            <p:nvPr/>
          </p:nvGrpSpPr>
          <p:grpSpPr>
            <a:xfrm>
              <a:off x="2148938" y="4220236"/>
              <a:ext cx="137520" cy="124560"/>
              <a:chOff x="2148938" y="4220236"/>
              <a:chExt cx="137520" cy="124560"/>
            </a:xfrm>
          </p:grpSpPr>
          <mc:AlternateContent xmlns:mc="http://schemas.openxmlformats.org/markup-compatibility/2006" xmlns:p14="http://schemas.microsoft.com/office/powerpoint/2010/main">
            <mc:Choice Requires="p14">
              <p:contentPart p14:bwMode="auto" r:id="rId13">
                <p14:nvContentPartPr>
                  <p14:cNvPr id="47" name="Ink 46">
                    <a:extLst>
                      <a:ext uri="{FF2B5EF4-FFF2-40B4-BE49-F238E27FC236}">
                        <a16:creationId xmlns:a16="http://schemas.microsoft.com/office/drawing/2014/main" id="{73336F8A-068F-B1D0-1FA3-34EA74316EC4}"/>
                      </a:ext>
                    </a:extLst>
                  </p14:cNvPr>
                  <p14:cNvContentPartPr/>
                  <p14:nvPr/>
                </p14:nvContentPartPr>
                <p14:xfrm>
                  <a:off x="2169098" y="4220236"/>
                  <a:ext cx="53280" cy="91440"/>
                </p14:xfrm>
              </p:contentPart>
            </mc:Choice>
            <mc:Fallback xmlns="">
              <p:pic>
                <p:nvPicPr>
                  <p:cNvPr id="47" name="Ink 46">
                    <a:extLst>
                      <a:ext uri="{FF2B5EF4-FFF2-40B4-BE49-F238E27FC236}">
                        <a16:creationId xmlns:a16="http://schemas.microsoft.com/office/drawing/2014/main" id="{73336F8A-068F-B1D0-1FA3-34EA74316EC4}"/>
                      </a:ext>
                    </a:extLst>
                  </p:cNvPr>
                  <p:cNvPicPr/>
                  <p:nvPr/>
                </p:nvPicPr>
                <p:blipFill>
                  <a:blip r:embed="rId14"/>
                  <a:stretch>
                    <a:fillRect/>
                  </a:stretch>
                </p:blipFill>
                <p:spPr>
                  <a:xfrm>
                    <a:off x="2164331" y="4214644"/>
                    <a:ext cx="62814" cy="102623"/>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8" name="Ink 47">
                    <a:extLst>
                      <a:ext uri="{FF2B5EF4-FFF2-40B4-BE49-F238E27FC236}">
                        <a16:creationId xmlns:a16="http://schemas.microsoft.com/office/drawing/2014/main" id="{0A68B15A-775A-0041-BAD5-ADB671CEA37A}"/>
                      </a:ext>
                    </a:extLst>
                  </p14:cNvPr>
                  <p14:cNvContentPartPr/>
                  <p14:nvPr/>
                </p14:nvContentPartPr>
                <p14:xfrm>
                  <a:off x="2148938" y="4328956"/>
                  <a:ext cx="137520" cy="15840"/>
                </p14:xfrm>
              </p:contentPart>
            </mc:Choice>
            <mc:Fallback xmlns="">
              <p:pic>
                <p:nvPicPr>
                  <p:cNvPr id="48" name="Ink 47">
                    <a:extLst>
                      <a:ext uri="{FF2B5EF4-FFF2-40B4-BE49-F238E27FC236}">
                        <a16:creationId xmlns:a16="http://schemas.microsoft.com/office/drawing/2014/main" id="{0A68B15A-775A-0041-BAD5-ADB671CEA37A}"/>
                      </a:ext>
                    </a:extLst>
                  </p:cNvPr>
                  <p:cNvPicPr/>
                  <p:nvPr/>
                </p:nvPicPr>
                <p:blipFill>
                  <a:blip r:embed="rId16"/>
                  <a:stretch>
                    <a:fillRect/>
                  </a:stretch>
                </p:blipFill>
                <p:spPr>
                  <a:xfrm>
                    <a:off x="2144167" y="4323346"/>
                    <a:ext cx="147062" cy="270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50" name="Ink 49">
                  <a:extLst>
                    <a:ext uri="{FF2B5EF4-FFF2-40B4-BE49-F238E27FC236}">
                      <a16:creationId xmlns:a16="http://schemas.microsoft.com/office/drawing/2014/main" id="{358DBE0B-8A23-92B3-B371-011CB0AE2CD4}"/>
                    </a:ext>
                  </a:extLst>
                </p14:cNvPr>
                <p14:cNvContentPartPr/>
                <p14:nvPr/>
              </p14:nvContentPartPr>
              <p14:xfrm>
                <a:off x="4361138" y="4272076"/>
                <a:ext cx="93600" cy="92520"/>
              </p14:xfrm>
            </p:contentPart>
          </mc:Choice>
          <mc:Fallback xmlns="">
            <p:pic>
              <p:nvPicPr>
                <p:cNvPr id="50" name="Ink 49">
                  <a:extLst>
                    <a:ext uri="{FF2B5EF4-FFF2-40B4-BE49-F238E27FC236}">
                      <a16:creationId xmlns:a16="http://schemas.microsoft.com/office/drawing/2014/main" id="{358DBE0B-8A23-92B3-B371-011CB0AE2CD4}"/>
                    </a:ext>
                  </a:extLst>
                </p:cNvPr>
                <p:cNvPicPr/>
                <p:nvPr/>
              </p:nvPicPr>
              <p:blipFill>
                <a:blip r:embed="rId18"/>
                <a:stretch>
                  <a:fillRect/>
                </a:stretch>
              </p:blipFill>
              <p:spPr>
                <a:xfrm>
                  <a:off x="4356374" y="4266499"/>
                  <a:ext cx="103128" cy="103675"/>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1" name="Ink 50">
                  <a:extLst>
                    <a:ext uri="{FF2B5EF4-FFF2-40B4-BE49-F238E27FC236}">
                      <a16:creationId xmlns:a16="http://schemas.microsoft.com/office/drawing/2014/main" id="{ACE50A80-2071-87F3-D31C-3F6724691F34}"/>
                    </a:ext>
                  </a:extLst>
                </p14:cNvPr>
                <p14:cNvContentPartPr/>
                <p14:nvPr/>
              </p14:nvContentPartPr>
              <p14:xfrm>
                <a:off x="5573618" y="3437956"/>
                <a:ext cx="126720" cy="95760"/>
              </p14:xfrm>
            </p:contentPart>
          </mc:Choice>
          <mc:Fallback xmlns="">
            <p:pic>
              <p:nvPicPr>
                <p:cNvPr id="51" name="Ink 50">
                  <a:extLst>
                    <a:ext uri="{FF2B5EF4-FFF2-40B4-BE49-F238E27FC236}">
                      <a16:creationId xmlns:a16="http://schemas.microsoft.com/office/drawing/2014/main" id="{ACE50A80-2071-87F3-D31C-3F6724691F34}"/>
                    </a:ext>
                  </a:extLst>
                </p:cNvPr>
                <p:cNvPicPr/>
                <p:nvPr/>
              </p:nvPicPr>
              <p:blipFill>
                <a:blip r:embed="rId20"/>
                <a:stretch>
                  <a:fillRect/>
                </a:stretch>
              </p:blipFill>
              <p:spPr>
                <a:xfrm>
                  <a:off x="5568841" y="3432362"/>
                  <a:ext cx="136273" cy="106948"/>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7924-E3E7-D12F-BD6D-7DCFF4AF53A8}"/>
              </a:ext>
            </a:extLst>
          </p:cNvPr>
          <p:cNvSpPr>
            <a:spLocks noGrp="1"/>
          </p:cNvSpPr>
          <p:nvPr>
            <p:ph type="title"/>
          </p:nvPr>
        </p:nvSpPr>
        <p:spPr>
          <a:xfrm>
            <a:off x="786231" y="555600"/>
            <a:ext cx="7519569" cy="755700"/>
          </a:xfrm>
        </p:spPr>
        <p:txBody>
          <a:bodyPr anchor="ctr"/>
          <a:lstStyle/>
          <a:p>
            <a:pPr algn="ctr"/>
            <a:r>
              <a:rPr lang="en-US" sz="3200" b="1" dirty="0"/>
              <a:t>Model Evaluation and interpretation </a:t>
            </a:r>
          </a:p>
        </p:txBody>
      </p:sp>
      <p:pic>
        <p:nvPicPr>
          <p:cNvPr id="54" name="Picture 53">
            <a:extLst>
              <a:ext uri="{FF2B5EF4-FFF2-40B4-BE49-F238E27FC236}">
                <a16:creationId xmlns:a16="http://schemas.microsoft.com/office/drawing/2014/main" id="{62909181-938C-01E9-11EA-B16D33406FF6}"/>
              </a:ext>
            </a:extLst>
          </p:cNvPr>
          <p:cNvPicPr>
            <a:picLocks noChangeAspect="1"/>
          </p:cNvPicPr>
          <p:nvPr/>
        </p:nvPicPr>
        <p:blipFill>
          <a:blip r:embed="rId2"/>
          <a:stretch>
            <a:fillRect/>
          </a:stretch>
        </p:blipFill>
        <p:spPr>
          <a:xfrm>
            <a:off x="1725901" y="1433945"/>
            <a:ext cx="5098174" cy="3153955"/>
          </a:xfrm>
          <a:prstGeom prst="rect">
            <a:avLst/>
          </a:prstGeom>
        </p:spPr>
      </p:pic>
    </p:spTree>
    <p:extLst>
      <p:ext uri="{BB962C8B-B14F-4D97-AF65-F5344CB8AC3E}">
        <p14:creationId xmlns:p14="http://schemas.microsoft.com/office/powerpoint/2010/main" val="2502734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0"/>
          <p:cNvSpPr txBox="1">
            <a:spLocks noGrp="1"/>
          </p:cNvSpPr>
          <p:nvPr>
            <p:ph type="title"/>
          </p:nvPr>
        </p:nvSpPr>
        <p:spPr>
          <a:xfrm>
            <a:off x="192347" y="464148"/>
            <a:ext cx="4045200" cy="79072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800" b="1" dirty="0"/>
              <a:t>Bagging</a:t>
            </a:r>
            <a:r>
              <a:rPr lang="en" sz="3800" dirty="0"/>
              <a:t> </a:t>
            </a:r>
            <a:endParaRPr sz="3800" dirty="0"/>
          </a:p>
        </p:txBody>
      </p:sp>
      <p:sp>
        <p:nvSpPr>
          <p:cNvPr id="4" name="TextBox 3">
            <a:extLst>
              <a:ext uri="{FF2B5EF4-FFF2-40B4-BE49-F238E27FC236}">
                <a16:creationId xmlns:a16="http://schemas.microsoft.com/office/drawing/2014/main" id="{B7805E1B-444F-3319-3CF3-5D9FB4E87673}"/>
              </a:ext>
            </a:extLst>
          </p:cNvPr>
          <p:cNvSpPr txBox="1"/>
          <p:nvPr/>
        </p:nvSpPr>
        <p:spPr>
          <a:xfrm>
            <a:off x="4904508" y="536345"/>
            <a:ext cx="4045200" cy="646331"/>
          </a:xfrm>
          <a:prstGeom prst="rect">
            <a:avLst/>
          </a:prstGeom>
          <a:noFill/>
        </p:spPr>
        <p:txBody>
          <a:bodyPr wrap="square" rtlCol="0">
            <a:spAutoFit/>
          </a:bodyPr>
          <a:lstStyle/>
          <a:p>
            <a:r>
              <a:rPr lang="en-US" sz="3600" b="1" dirty="0">
                <a:solidFill>
                  <a:schemeClr val="bg1"/>
                </a:solidFill>
              </a:rPr>
              <a:t>Random Forest</a:t>
            </a:r>
          </a:p>
        </p:txBody>
      </p:sp>
      <p:sp>
        <p:nvSpPr>
          <p:cNvPr id="7" name="TextBox 6">
            <a:extLst>
              <a:ext uri="{FF2B5EF4-FFF2-40B4-BE49-F238E27FC236}">
                <a16:creationId xmlns:a16="http://schemas.microsoft.com/office/drawing/2014/main" id="{56B29076-445B-A85D-6744-3FA900E40202}"/>
              </a:ext>
            </a:extLst>
          </p:cNvPr>
          <p:cNvSpPr txBox="1"/>
          <p:nvPr/>
        </p:nvSpPr>
        <p:spPr>
          <a:xfrm>
            <a:off x="602673" y="1669473"/>
            <a:ext cx="3352800" cy="1356782"/>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1800" dirty="0"/>
              <a:t>Uses all predictors</a:t>
            </a:r>
          </a:p>
          <a:p>
            <a:pPr marL="285750" indent="-285750">
              <a:lnSpc>
                <a:spcPct val="250000"/>
              </a:lnSpc>
              <a:buFont typeface="Arial" panose="020B0604020202020204" pitchFamily="34" charset="0"/>
              <a:buChar char="•"/>
            </a:pPr>
            <a:r>
              <a:rPr lang="en-US" sz="1800" dirty="0"/>
              <a:t>Reduces Variance </a:t>
            </a:r>
          </a:p>
        </p:txBody>
      </p:sp>
      <p:sp>
        <p:nvSpPr>
          <p:cNvPr id="8" name="TextBox 7">
            <a:extLst>
              <a:ext uri="{FF2B5EF4-FFF2-40B4-BE49-F238E27FC236}">
                <a16:creationId xmlns:a16="http://schemas.microsoft.com/office/drawing/2014/main" id="{D4F4628B-454B-8A5F-FA83-D607F7B86B7B}"/>
              </a:ext>
            </a:extLst>
          </p:cNvPr>
          <p:cNvSpPr txBox="1"/>
          <p:nvPr/>
        </p:nvSpPr>
        <p:spPr>
          <a:xfrm>
            <a:off x="5077691" y="1669473"/>
            <a:ext cx="3858491" cy="1831784"/>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1600" dirty="0">
                <a:solidFill>
                  <a:schemeClr val="bg1"/>
                </a:solidFill>
              </a:rPr>
              <a:t>Uses subset of predictors </a:t>
            </a:r>
          </a:p>
          <a:p>
            <a:pPr marL="285750" indent="-285750">
              <a:lnSpc>
                <a:spcPct val="250000"/>
              </a:lnSpc>
              <a:buFont typeface="Arial" panose="020B0604020202020204" pitchFamily="34" charset="0"/>
              <a:buChar char="•"/>
            </a:pPr>
            <a:r>
              <a:rPr lang="en-US" sz="1600" dirty="0">
                <a:solidFill>
                  <a:schemeClr val="bg1"/>
                </a:solidFill>
              </a:rPr>
              <a:t>Reduces correlation between trees</a:t>
            </a:r>
          </a:p>
          <a:p>
            <a:pPr marL="285750" indent="-285750">
              <a:lnSpc>
                <a:spcPct val="250000"/>
              </a:lnSpc>
              <a:buFont typeface="Arial" panose="020B0604020202020204" pitchFamily="34" charset="0"/>
              <a:buChar char="•"/>
            </a:pPr>
            <a:r>
              <a:rPr lang="en-US" sz="1600" dirty="0">
                <a:solidFill>
                  <a:schemeClr val="bg1"/>
                </a:solidFill>
              </a:rPr>
              <a:t>Better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6343-58AE-66E8-692F-FCCBED5173C3}"/>
              </a:ext>
            </a:extLst>
          </p:cNvPr>
          <p:cNvSpPr>
            <a:spLocks noGrp="1"/>
          </p:cNvSpPr>
          <p:nvPr>
            <p:ph type="title"/>
          </p:nvPr>
        </p:nvSpPr>
        <p:spPr>
          <a:xfrm>
            <a:off x="311700" y="409999"/>
            <a:ext cx="8520600" cy="878473"/>
          </a:xfrm>
        </p:spPr>
        <p:txBody>
          <a:bodyPr/>
          <a:lstStyle/>
          <a:p>
            <a:r>
              <a:rPr lang="en-US" sz="3200" b="1" dirty="0"/>
              <a:t>Performance Comparison</a:t>
            </a:r>
            <a:br>
              <a:rPr lang="en-US" b="1" dirty="0"/>
            </a:br>
            <a:endParaRPr lang="en-US" b="1" dirty="0"/>
          </a:p>
        </p:txBody>
      </p:sp>
      <p:pic>
        <p:nvPicPr>
          <p:cNvPr id="4" name="Picture 3">
            <a:extLst>
              <a:ext uri="{FF2B5EF4-FFF2-40B4-BE49-F238E27FC236}">
                <a16:creationId xmlns:a16="http://schemas.microsoft.com/office/drawing/2014/main" id="{F9496789-E116-1FFE-CB58-FFF9E02D36DB}"/>
              </a:ext>
            </a:extLst>
          </p:cNvPr>
          <p:cNvPicPr>
            <a:picLocks noChangeAspect="1"/>
          </p:cNvPicPr>
          <p:nvPr/>
        </p:nvPicPr>
        <p:blipFill>
          <a:blip r:embed="rId2"/>
          <a:stretch>
            <a:fillRect/>
          </a:stretch>
        </p:blipFill>
        <p:spPr>
          <a:xfrm>
            <a:off x="4745208" y="1766454"/>
            <a:ext cx="4087092" cy="2528455"/>
          </a:xfrm>
          <a:prstGeom prst="rect">
            <a:avLst/>
          </a:prstGeom>
        </p:spPr>
      </p:pic>
      <p:pic>
        <p:nvPicPr>
          <p:cNvPr id="6" name="Picture 5">
            <a:extLst>
              <a:ext uri="{FF2B5EF4-FFF2-40B4-BE49-F238E27FC236}">
                <a16:creationId xmlns:a16="http://schemas.microsoft.com/office/drawing/2014/main" id="{E53BE26B-761D-6B44-E105-C707E4D8472C}"/>
              </a:ext>
            </a:extLst>
          </p:cNvPr>
          <p:cNvPicPr>
            <a:picLocks noChangeAspect="1"/>
          </p:cNvPicPr>
          <p:nvPr/>
        </p:nvPicPr>
        <p:blipFill>
          <a:blip r:embed="rId3"/>
          <a:stretch>
            <a:fillRect/>
          </a:stretch>
        </p:blipFill>
        <p:spPr>
          <a:xfrm>
            <a:off x="512549" y="1721428"/>
            <a:ext cx="4232659" cy="2618509"/>
          </a:xfrm>
          <a:prstGeom prst="rect">
            <a:avLst/>
          </a:prstGeom>
        </p:spPr>
      </p:pic>
    </p:spTree>
    <p:extLst>
      <p:ext uri="{BB962C8B-B14F-4D97-AF65-F5344CB8AC3E}">
        <p14:creationId xmlns:p14="http://schemas.microsoft.com/office/powerpoint/2010/main" val="2611896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Variable Importance </a:t>
            </a:r>
            <a:endParaRPr b="1"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1" name="Google Shape;201;p21"/>
          <p:cNvSpPr txBox="1"/>
          <p:nvPr/>
        </p:nvSpPr>
        <p:spPr>
          <a:xfrm>
            <a:off x="732325" y="1530926"/>
            <a:ext cx="6979200" cy="3253323"/>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600"/>
              </a:spcBef>
              <a:spcAft>
                <a:spcPts val="0"/>
              </a:spcAft>
              <a:buSzPts val="1600"/>
              <a:buChar char="●"/>
            </a:pPr>
            <a:r>
              <a:rPr lang="en-US" sz="1600" b="1" dirty="0">
                <a:highlight>
                  <a:schemeClr val="lt1"/>
                </a:highlight>
              </a:rPr>
              <a:t>Most Important Predictors:</a:t>
            </a:r>
          </a:p>
          <a:p>
            <a:pPr marL="914400" lvl="1" indent="-330200" algn="l" rtl="0">
              <a:lnSpc>
                <a:spcPct val="115000"/>
              </a:lnSpc>
              <a:spcBef>
                <a:spcPts val="1000"/>
              </a:spcBef>
              <a:spcAft>
                <a:spcPts val="0"/>
              </a:spcAft>
              <a:buSzPts val="1600"/>
              <a:buChar char="○"/>
            </a:pPr>
            <a:r>
              <a:rPr lang="en-US" dirty="0">
                <a:highlight>
                  <a:schemeClr val="lt1"/>
                </a:highlight>
              </a:rPr>
              <a:t>Grade level</a:t>
            </a:r>
          </a:p>
          <a:p>
            <a:pPr marL="914400" lvl="1" indent="-330200" algn="l" rtl="0">
              <a:lnSpc>
                <a:spcPct val="115000"/>
              </a:lnSpc>
              <a:spcBef>
                <a:spcPts val="1000"/>
              </a:spcBef>
              <a:spcAft>
                <a:spcPts val="0"/>
              </a:spcAft>
              <a:buSzPts val="1600"/>
              <a:buChar char="○"/>
            </a:pPr>
            <a:r>
              <a:rPr lang="en-US" dirty="0">
                <a:highlight>
                  <a:schemeClr val="lt1"/>
                </a:highlight>
              </a:rPr>
              <a:t>Income</a:t>
            </a:r>
          </a:p>
          <a:p>
            <a:pPr marL="914400" lvl="1" indent="-330200" algn="l" rtl="0">
              <a:lnSpc>
                <a:spcPct val="115000"/>
              </a:lnSpc>
              <a:spcBef>
                <a:spcPts val="1000"/>
              </a:spcBef>
              <a:spcAft>
                <a:spcPts val="0"/>
              </a:spcAft>
              <a:buSzPts val="1600"/>
              <a:buChar char="○"/>
            </a:pPr>
            <a:r>
              <a:rPr lang="en-US" dirty="0">
                <a:highlight>
                  <a:schemeClr val="lt1"/>
                </a:highlight>
              </a:rPr>
              <a:t>Poverty Level</a:t>
            </a:r>
          </a:p>
          <a:p>
            <a:pPr marL="457200" lvl="0" indent="-330200" algn="l" rtl="0">
              <a:lnSpc>
                <a:spcPct val="115000"/>
              </a:lnSpc>
              <a:spcBef>
                <a:spcPts val="1000"/>
              </a:spcBef>
              <a:spcAft>
                <a:spcPts val="0"/>
              </a:spcAft>
              <a:buSzPts val="1600"/>
              <a:buChar char="●"/>
            </a:pPr>
            <a:r>
              <a:rPr lang="en-US" sz="1600" b="1" dirty="0">
                <a:highlight>
                  <a:schemeClr val="lt1"/>
                </a:highlight>
              </a:rPr>
              <a:t>Less Important:</a:t>
            </a:r>
          </a:p>
          <a:p>
            <a:pPr marL="914400" lvl="1" indent="-330200" algn="l" rtl="0">
              <a:lnSpc>
                <a:spcPct val="115000"/>
              </a:lnSpc>
              <a:spcBef>
                <a:spcPts val="1000"/>
              </a:spcBef>
              <a:spcAft>
                <a:spcPts val="0"/>
              </a:spcAft>
              <a:buSzPts val="1600"/>
              <a:buChar char="○"/>
            </a:pPr>
            <a:r>
              <a:rPr lang="en-US" dirty="0">
                <a:highlight>
                  <a:schemeClr val="lt1"/>
                </a:highlight>
              </a:rPr>
              <a:t>Parental Presence</a:t>
            </a:r>
          </a:p>
          <a:p>
            <a:pPr marL="914400" lvl="1" indent="-330200" algn="l" rtl="0">
              <a:lnSpc>
                <a:spcPct val="115000"/>
              </a:lnSpc>
              <a:spcBef>
                <a:spcPts val="1000"/>
              </a:spcBef>
              <a:spcAft>
                <a:spcPts val="0"/>
              </a:spcAft>
              <a:buSzPts val="1600"/>
              <a:buChar char="○"/>
            </a:pPr>
            <a:r>
              <a:rPr lang="en-US" dirty="0">
                <a:highlight>
                  <a:schemeClr val="lt1"/>
                </a:highlight>
              </a:rPr>
              <a:t>Geographical variables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544F-8697-8C50-B371-78B494042158}"/>
              </a:ext>
            </a:extLst>
          </p:cNvPr>
          <p:cNvSpPr>
            <a:spLocks noGrp="1"/>
          </p:cNvSpPr>
          <p:nvPr>
            <p:ph type="title"/>
          </p:nvPr>
        </p:nvSpPr>
        <p:spPr>
          <a:xfrm>
            <a:off x="311700" y="389219"/>
            <a:ext cx="8520600" cy="607800"/>
          </a:xfrm>
        </p:spPr>
        <p:txBody>
          <a:bodyPr/>
          <a:lstStyle/>
          <a:p>
            <a:r>
              <a:rPr lang="en-US" b="1" dirty="0"/>
              <a:t>Ethical Considerations</a:t>
            </a:r>
          </a:p>
        </p:txBody>
      </p:sp>
      <p:sp>
        <p:nvSpPr>
          <p:cNvPr id="3" name="Google Shape;201;p21">
            <a:extLst>
              <a:ext uri="{FF2B5EF4-FFF2-40B4-BE49-F238E27FC236}">
                <a16:creationId xmlns:a16="http://schemas.microsoft.com/office/drawing/2014/main" id="{EFB5491D-67B4-60C4-CEC8-982B4CA7A648}"/>
              </a:ext>
            </a:extLst>
          </p:cNvPr>
          <p:cNvSpPr txBox="1"/>
          <p:nvPr/>
        </p:nvSpPr>
        <p:spPr>
          <a:xfrm>
            <a:off x="732325" y="1510145"/>
            <a:ext cx="6979200" cy="3253323"/>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600"/>
              </a:spcBef>
              <a:spcAft>
                <a:spcPts val="0"/>
              </a:spcAft>
              <a:buSzPts val="1600"/>
              <a:buChar char="●"/>
            </a:pPr>
            <a:r>
              <a:rPr lang="en-US" sz="1600" b="1" dirty="0">
                <a:highlight>
                  <a:schemeClr val="lt1"/>
                </a:highlight>
              </a:rPr>
              <a:t>Results show correlation, not causation</a:t>
            </a:r>
          </a:p>
          <a:p>
            <a:pPr marL="457200" lvl="0" indent="-330200" algn="l" rtl="0">
              <a:lnSpc>
                <a:spcPct val="200000"/>
              </a:lnSpc>
              <a:spcBef>
                <a:spcPts val="1000"/>
              </a:spcBef>
              <a:spcAft>
                <a:spcPts val="0"/>
              </a:spcAft>
              <a:buSzPts val="1600"/>
              <a:buChar char="●"/>
            </a:pPr>
            <a:r>
              <a:rPr lang="en-US" sz="1600" b="1" dirty="0">
                <a:highlight>
                  <a:schemeClr val="lt1"/>
                </a:highlight>
              </a:rPr>
              <a:t>Demographics ≠ behavior</a:t>
            </a:r>
          </a:p>
          <a:p>
            <a:pPr marL="457200" lvl="0" indent="-330200" algn="l" rtl="0">
              <a:lnSpc>
                <a:spcPct val="200000"/>
              </a:lnSpc>
              <a:spcBef>
                <a:spcPts val="1000"/>
              </a:spcBef>
              <a:spcAft>
                <a:spcPts val="0"/>
              </a:spcAft>
              <a:buSzPts val="1600"/>
              <a:buChar char="●"/>
            </a:pPr>
            <a:r>
              <a:rPr lang="en-US" sz="1600" b="1" dirty="0">
                <a:highlight>
                  <a:schemeClr val="lt1"/>
                </a:highlight>
              </a:rPr>
              <a:t>Avoid Stereotyping</a:t>
            </a:r>
          </a:p>
          <a:p>
            <a:pPr marL="457200" lvl="0" indent="-330200" algn="l" rtl="0">
              <a:lnSpc>
                <a:spcPct val="200000"/>
              </a:lnSpc>
              <a:spcBef>
                <a:spcPts val="1000"/>
              </a:spcBef>
              <a:spcAft>
                <a:spcPts val="0"/>
              </a:spcAft>
              <a:buSzPts val="1600"/>
              <a:buChar char="●"/>
            </a:pPr>
            <a:r>
              <a:rPr lang="en-US" sz="1600" b="1" dirty="0">
                <a:highlight>
                  <a:schemeClr val="lt1"/>
                </a:highlight>
              </a:rPr>
              <a:t>Reflect broader social context</a:t>
            </a:r>
          </a:p>
        </p:txBody>
      </p:sp>
    </p:spTree>
    <p:extLst>
      <p:ext uri="{BB962C8B-B14F-4D97-AF65-F5344CB8AC3E}">
        <p14:creationId xmlns:p14="http://schemas.microsoft.com/office/powerpoint/2010/main" val="21212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idx="4294967295"/>
          </p:nvPr>
        </p:nvSpPr>
        <p:spPr>
          <a:xfrm>
            <a:off x="457200" y="680918"/>
            <a:ext cx="8229600" cy="593700"/>
          </a:xfrm>
          <a:prstGeom prst="rect">
            <a:avLst/>
          </a:prstGeom>
        </p:spPr>
        <p:txBody>
          <a:bodyPr wrap="square" lIns="91425" tIns="91425" rIns="91425" bIns="91425" anchor="t"/>
          <a:lstStyle/>
          <a:p>
            <a:pPr algn="l">
              <a:buNone/>
            </a:pPr>
            <a:r>
              <a:rPr lang="en-US" sz="2800" b="1" dirty="0">
                <a:solidFill>
                  <a:schemeClr val="tx1"/>
                </a:solidFill>
              </a:rPr>
              <a:t>Model Comparison Summary</a:t>
            </a:r>
          </a:p>
        </p:txBody>
      </p:sp>
      <p:sp>
        <p:nvSpPr>
          <p:cNvPr id="3" name="TableHeader"/>
          <p:cNvSpPr txBox="1">
            <a:spLocks noGrp="1"/>
          </p:cNvSpPr>
          <p:nvPr>
            <p:ph type="body" idx="4294967295"/>
          </p:nvPr>
        </p:nvSpPr>
        <p:spPr>
          <a:xfrm>
            <a:off x="457200" y="1731818"/>
            <a:ext cx="8229600" cy="457200"/>
          </a:xfrm>
          <a:prstGeom prst="rect">
            <a:avLst/>
          </a:prstGeom>
          <a:solidFill>
            <a:srgbClr val="1F3864"/>
          </a:solidFill>
        </p:spPr>
        <p:txBody>
          <a:bodyPr wrap="square" lIns="91425" tIns="91425" rIns="91425" bIns="91425" anchor="ctr"/>
          <a:lstStyle/>
          <a:p>
            <a:pPr algn="l">
              <a:buNone/>
            </a:pPr>
            <a:r>
              <a:rPr lang="en-US" sz="1300" b="1" dirty="0">
                <a:solidFill>
                  <a:srgbClr val="FFFFFF"/>
                </a:solidFill>
              </a:rPr>
              <a:t>Model                              Accuracy     Sensitivity     Specificity     Notes</a:t>
            </a:r>
          </a:p>
        </p:txBody>
      </p:sp>
      <p:sp>
        <p:nvSpPr>
          <p:cNvPr id="4" name="Row1"/>
          <p:cNvSpPr txBox="1">
            <a:spLocks noGrp="1"/>
          </p:cNvSpPr>
          <p:nvPr>
            <p:ph type="body" idx="4294967295"/>
          </p:nvPr>
        </p:nvSpPr>
        <p:spPr>
          <a:xfrm>
            <a:off x="457200" y="2189018"/>
            <a:ext cx="8229600" cy="457200"/>
          </a:xfrm>
          <a:prstGeom prst="rect">
            <a:avLst/>
          </a:prstGeom>
          <a:solidFill>
            <a:srgbClr val="EBF3FB"/>
          </a:solidFill>
        </p:spPr>
        <p:txBody>
          <a:bodyPr wrap="square" lIns="91425" tIns="91425" rIns="91425" bIns="91425" anchor="ctr"/>
          <a:lstStyle/>
          <a:p>
            <a:pPr algn="l">
              <a:buNone/>
            </a:pPr>
            <a:r>
              <a:rPr lang="en-US" sz="1200" dirty="0"/>
              <a:t>Decision Tree (pruned)         75.2%             0.0%                  100.0%            Predicts majority class only</a:t>
            </a:r>
          </a:p>
        </p:txBody>
      </p:sp>
      <p:sp>
        <p:nvSpPr>
          <p:cNvPr id="5" name="Row2"/>
          <p:cNvSpPr txBox="1">
            <a:spLocks noGrp="1"/>
          </p:cNvSpPr>
          <p:nvPr>
            <p:ph type="body" idx="4294967295"/>
          </p:nvPr>
        </p:nvSpPr>
        <p:spPr>
          <a:xfrm>
            <a:off x="457200" y="2646218"/>
            <a:ext cx="8229600" cy="457200"/>
          </a:xfrm>
          <a:prstGeom prst="rect">
            <a:avLst/>
          </a:prstGeom>
          <a:solidFill>
            <a:srgbClr val="FFFFFF"/>
          </a:solidFill>
        </p:spPr>
        <p:txBody>
          <a:bodyPr wrap="square" lIns="91425" tIns="91425" rIns="91425" bIns="91425" anchor="ctr"/>
          <a:lstStyle/>
          <a:p>
            <a:pPr algn="l">
              <a:buNone/>
            </a:pPr>
            <a:r>
              <a:rPr lang="en-US" sz="1200" dirty="0"/>
              <a:t>Bagging (ntree=300)              71.1%            19.8%                  88.1%             Identifies 81/409 users</a:t>
            </a:r>
          </a:p>
        </p:txBody>
      </p:sp>
      <p:sp>
        <p:nvSpPr>
          <p:cNvPr id="6" name="Row3"/>
          <p:cNvSpPr txBox="1">
            <a:spLocks noGrp="1"/>
          </p:cNvSpPr>
          <p:nvPr>
            <p:ph type="body" idx="4294967295"/>
          </p:nvPr>
        </p:nvSpPr>
        <p:spPr>
          <a:xfrm>
            <a:off x="457200" y="3103418"/>
            <a:ext cx="8229600" cy="457200"/>
          </a:xfrm>
          <a:prstGeom prst="rect">
            <a:avLst/>
          </a:prstGeom>
          <a:solidFill>
            <a:srgbClr val="EBF3FB"/>
          </a:solidFill>
        </p:spPr>
        <p:txBody>
          <a:bodyPr wrap="square" lIns="91425" tIns="91425" rIns="91425" bIns="91425" anchor="ctr"/>
          <a:lstStyle/>
          <a:p>
            <a:pPr algn="l">
              <a:buNone/>
            </a:pPr>
            <a:r>
              <a:rPr lang="en-US" sz="1200" b="1" dirty="0">
                <a:solidFill>
                  <a:srgbClr val="1F3864"/>
                </a:solidFill>
              </a:rPr>
              <a:t>Random Forest (mtry=3)          75.3%            12.2%                  96.0%             Best accuracy; balanced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D919-42DD-BF81-7AD2-20057C061426}"/>
              </a:ext>
            </a:extLst>
          </p:cNvPr>
          <p:cNvSpPr>
            <a:spLocks noGrp="1"/>
          </p:cNvSpPr>
          <p:nvPr>
            <p:ph type="title"/>
          </p:nvPr>
        </p:nvSpPr>
        <p:spPr/>
        <p:txBody>
          <a:bodyPr/>
          <a:lstStyle/>
          <a:p>
            <a:pPr algn="ctr"/>
            <a:r>
              <a:rPr lang="en-US" b="1" dirty="0"/>
              <a:t>Conclusion</a:t>
            </a:r>
          </a:p>
        </p:txBody>
      </p:sp>
      <p:sp>
        <p:nvSpPr>
          <p:cNvPr id="3" name="Google Shape;201;p21">
            <a:extLst>
              <a:ext uri="{FF2B5EF4-FFF2-40B4-BE49-F238E27FC236}">
                <a16:creationId xmlns:a16="http://schemas.microsoft.com/office/drawing/2014/main" id="{8E3AD6D2-BC7C-C168-9257-B4C744972202}"/>
              </a:ext>
            </a:extLst>
          </p:cNvPr>
          <p:cNvSpPr txBox="1"/>
          <p:nvPr/>
        </p:nvSpPr>
        <p:spPr>
          <a:xfrm>
            <a:off x="732325" y="1510145"/>
            <a:ext cx="6979200" cy="3253323"/>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600"/>
              </a:spcBef>
              <a:spcAft>
                <a:spcPts val="0"/>
              </a:spcAft>
              <a:buSzPts val="1600"/>
              <a:buChar char="●"/>
            </a:pPr>
            <a:r>
              <a:rPr lang="en-US" sz="1600" b="1" dirty="0">
                <a:highlight>
                  <a:schemeClr val="lt1"/>
                </a:highlight>
              </a:rPr>
              <a:t>Grade level is the strongest predictor</a:t>
            </a:r>
          </a:p>
          <a:p>
            <a:pPr marL="457200" lvl="0" indent="-330200" algn="l" rtl="0">
              <a:lnSpc>
                <a:spcPct val="200000"/>
              </a:lnSpc>
              <a:spcBef>
                <a:spcPts val="1000"/>
              </a:spcBef>
              <a:spcAft>
                <a:spcPts val="0"/>
              </a:spcAft>
              <a:buSzPts val="1600"/>
              <a:buChar char="●"/>
            </a:pPr>
            <a:r>
              <a:rPr lang="en-US" sz="1600" b="1" dirty="0">
                <a:highlight>
                  <a:schemeClr val="lt1"/>
                </a:highlight>
              </a:rPr>
              <a:t>Substance use increases with age</a:t>
            </a:r>
          </a:p>
          <a:p>
            <a:pPr marL="457200" lvl="0" indent="-330200" algn="l" rtl="0">
              <a:lnSpc>
                <a:spcPct val="200000"/>
              </a:lnSpc>
              <a:spcBef>
                <a:spcPts val="1000"/>
              </a:spcBef>
              <a:spcAft>
                <a:spcPts val="0"/>
              </a:spcAft>
              <a:buSzPts val="1600"/>
              <a:buChar char="●"/>
            </a:pPr>
            <a:r>
              <a:rPr lang="en-US" sz="1600" b="1" dirty="0">
                <a:highlight>
                  <a:schemeClr val="lt1"/>
                </a:highlight>
              </a:rPr>
              <a:t>Demographics alone are limited</a:t>
            </a:r>
          </a:p>
          <a:p>
            <a:pPr marL="457200" lvl="0" indent="-330200" algn="l" rtl="0">
              <a:lnSpc>
                <a:spcPct val="200000"/>
              </a:lnSpc>
              <a:spcBef>
                <a:spcPts val="1000"/>
              </a:spcBef>
              <a:spcAft>
                <a:spcPts val="0"/>
              </a:spcAft>
              <a:buSzPts val="1600"/>
              <a:buChar char="●"/>
            </a:pPr>
            <a:r>
              <a:rPr lang="en-US" sz="1600" b="1" dirty="0">
                <a:highlight>
                  <a:schemeClr val="lt1"/>
                </a:highlight>
              </a:rPr>
              <a:t>Random Forest improves performance</a:t>
            </a:r>
          </a:p>
        </p:txBody>
      </p:sp>
    </p:spTree>
    <p:extLst>
      <p:ext uri="{BB962C8B-B14F-4D97-AF65-F5344CB8AC3E}">
        <p14:creationId xmlns:p14="http://schemas.microsoft.com/office/powerpoint/2010/main" val="332313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5"/>
          <p:cNvSpPr txBox="1">
            <a:spLocks noGrp="1"/>
          </p:cNvSpPr>
          <p:nvPr>
            <p:ph type="subTitle" idx="1"/>
          </p:nvPr>
        </p:nvSpPr>
        <p:spPr>
          <a:xfrm>
            <a:off x="1340427" y="1331768"/>
            <a:ext cx="6463145" cy="24799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b="1" dirty="0"/>
              <a:t>Thank You!</a:t>
            </a:r>
            <a:endParaRPr sz="5400" dirty="0"/>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894</Words>
  <Application>Microsoft Office PowerPoint</Application>
  <PresentationFormat>On-screen Show (16:9)</PresentationFormat>
  <Paragraphs>130</Paragraphs>
  <Slides>15</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Roboto</vt:lpstr>
      <vt:lpstr>Arial</vt:lpstr>
      <vt:lpstr>Geometric</vt:lpstr>
      <vt:lpstr>Youth Substance Use  DATA 5322: Statistical Machine Learning II</vt:lpstr>
      <vt:lpstr>Introduction</vt:lpstr>
      <vt:lpstr>Domain Problem </vt:lpstr>
      <vt:lpstr>Data Overview</vt:lpstr>
      <vt:lpstr>Theoretical Background</vt:lpstr>
      <vt:lpstr>Methodology</vt:lpstr>
      <vt:lpstr>Decision Tree Plot</vt:lpstr>
      <vt:lpstr>Model Evaluation and interpretation </vt:lpstr>
      <vt:lpstr>Bagging </vt:lpstr>
      <vt:lpstr>Performance Comparison </vt:lpstr>
      <vt:lpstr>Variable Importance    </vt:lpstr>
      <vt:lpstr>Ethical Considerations</vt:lpstr>
      <vt:lpstr>Model Comparison Summary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Gakwa</dc:creator>
  <cp:lastModifiedBy>John Gakwa</cp:lastModifiedBy>
  <cp:revision>2</cp:revision>
  <dcterms:modified xsi:type="dcterms:W3CDTF">2026-04-19T10:36:03Z</dcterms:modified>
</cp:coreProperties>
</file>